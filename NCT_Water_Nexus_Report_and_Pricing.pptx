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โครงการระบบตรวจวัดคุณภาพน้ำอัจฉริยะ 100 ชุด (Modela + Cybertice)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600">
                <a:solidFill>
                  <a:srgbClr val="CBD5E1"/>
                </a:solidFill>
              </a:defRPr>
            </a:pPr>
            <a:r>
              <a:t>รายงานนำเสนอโซลูชันระบบตรวจวัดคุณภาพน้ำ แดชบอร์ด SCADA และโครงสร้างราคา (100 ชุด)</a:t>
            </a:r>
          </a:p>
          <a:p>
            <a:pPr>
              <a:spcAft>
                <a:spcPts val="2800"/>
              </a:spcAft>
              <a:defRPr sz="1200">
                <a:solidFill>
                  <a:srgbClr val="94A3B8"/>
                </a:solidFill>
              </a:defRPr>
            </a:pPr>
            <a:r>
              <a:t>• 4 พารามิเตอร์คุณภาพน้ำ: pH / TDS / อุณหภูมิน้ำ (ATC) / คลอรีนคงเหลือ (Residual Cl)</a:t>
            </a:r>
            <a:br/>
            <a:r>
              <a:t>• ระบบแดชบอร์ดคู่ขนาน: Centralized Web SCADA (จอใหญ่ห้องควบคุม) + Modela Mobile App</a:t>
            </a:r>
            <a:br/>
            <a:r>
              <a:t>• โครงสร้างราคาและใบเสนอราคาโครงการ 100 ชุด สรุปไว้ท้ายสุด (สไลด์ 6-8)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Water Solutions  •  System Version 2.5 Pro  •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ภาพรวมโครงการและข้อกำหนดทางเทคนิค 4 พารามิเตอร์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#1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ความเป็นกรด-ด่าง (pH)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14.00 pH</a:t>
            </a:r>
            <a:br/>
            <a:br/>
            <a:r>
              <a:t>• ความแม่นยำ (Accuracy):</a:t>
            </a:r>
            <a:br/>
            <a:r>
              <a:t>  ±0.01 pH</a:t>
            </a:r>
            <a:br/>
            <a:br/>
            <a:r>
              <a:t>• เทคโนโลยีเซนเซอร์:</a:t>
            </a:r>
            <a:br/>
            <a:r>
              <a:t>  Industrial Glass Electrode Probe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#2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สารละลายรวม (TDS)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 – 2,000 ppm</a:t>
            </a:r>
            <a:br/>
            <a:br/>
            <a:r>
              <a:t>• ความแม่นยำ (Accuracy):</a:t>
            </a:r>
            <a:br/>
            <a:r>
              <a:t>  ±1.5% F.S.</a:t>
            </a:r>
            <a:br/>
            <a:br/>
            <a:r>
              <a:t>• เทคโนโลยีเซนเซอร์:</a:t>
            </a:r>
            <a:br/>
            <a:r>
              <a:t>  Titanium Dual-Pole Sensor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#3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อุณหภูมิน้ำ (Water Temp)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-10.0 – 80.0 °C</a:t>
            </a:r>
            <a:br/>
            <a:br/>
            <a:r>
              <a:t>• ความแม่นยำ (Accuracy):</a:t>
            </a:r>
            <a:br/>
            <a:r>
              <a:t>  ±0.2 °C</a:t>
            </a:r>
            <a:br/>
            <a:br/>
            <a:r>
              <a:t>• เทคโนโลยีเซนเซอร์:</a:t>
            </a:r>
            <a:br/>
            <a:r>
              <a:t>  PT1000 RTD พร้อมระบบ ATC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#4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คลอรีนคงเหลือ (Residual Cl)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5.00 mg/L</a:t>
            </a:r>
            <a:br/>
            <a:br/>
            <a:r>
              <a:t>• ความแม่นยำ (Accuracy):</a:t>
            </a:r>
            <a:br/>
            <a:r>
              <a:t>  ±0.02 mg/L</a:t>
            </a:r>
            <a:br/>
            <a:br/>
            <a:r>
              <a:t>• เทคโนโลยีเซนเซอร์:</a:t>
            </a:r>
            <a:br/>
            <a:r>
              <a:t>  Amperometric Membrane Sensor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ภาพแคปหน้าจอระบบ Web SCADA Dashboard จริง (index.html)</a:t>
            </a:r>
          </a:p>
        </p:txBody>
      </p:sp>
      <p:pic>
        <p:nvPicPr>
          <p:cNvPr id="3" name="Picture 2" descr="scada_web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463040"/>
            <a:ext cx="43278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60020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💻 คำอธิบายฟังก์ชันหน้าจอ SCADA: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❶ สถานะระบบ &amp; แบตเตอรี่: แสดงสถานะ Healthy, สัญญาณ 4G/WiFi และแบต LiFePO4 (90%)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❷ การ์ดตรวจวัด 4 ค่าหลัก: อุณหภูมิน้ำ (ATC), pH (Glass Probe), TDS (ppm), Cl (mg/L)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❸ กราฟแนวโน้ม Real-Time: พล็อตข้อมูลสด 1 วินาที ติดตามค่าน้ำ 24 ชม. พร้อมซูมดูย้อนหลัง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❹ ไดอะแกรมเชื่อมต่อ: ตรวจจับสายสัญญาณ WiFi ➔ Display ➔ Sensor Probes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❺ Digital Calibration: สอบเทียบหัววัด pH 7.00 / 4.01 ผ่านหน้าเว็บในคลิกเดียว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❻ ส่งออกรายงาน: Export ข้อมูลเป็น Excel / PDF สำหรับรายงาน ISO ทันที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ภาพแคปหน้าจอแอปมือถือจริง (Modela Mobile Companion App)</a:t>
            </a:r>
          </a:p>
        </p:txBody>
      </p:sp>
      <p:pic>
        <p:nvPicPr>
          <p:cNvPr id="3" name="Picture 2" descr="mobile_app_ex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246888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3474720" y="1463040"/>
            <a:ext cx="79854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49039" y="1645920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59669"/>
                </a:solidFill>
              </a:defRPr>
            </a:pPr>
            <a:r>
              <a:t>📱 คำอธิบายฟังก์ชันแอปพลิเคชันมือถือ (iOS &amp; Android):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✔ All Devices Hub (100 จุด): ค้นหาและสลับดูข้อมูลสถานีตรวจวัดคุณภาพน้ำทั้ง 100 จุดได้ง่ายดายในแอปเดียว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✔ Hero Metric Display: แสดงค่า pH (7.29) และ คลอรีนคงเหลือ (0.85 mg/L) ตัวเลขขนาดใหญ่ อ่านค่าง่ายทันที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✔ Sub-Metrics Display: แสดงค่าสารละลาย TDS (210 ppm) และค่าโออาร์พี ORP REDOX (725 mV)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✔ Ambient &amp; Water Temp: แสดงอุณหภูมิน้ำทั้งหน่วยเซลเซียส (17.3°C) และฟาเรนไฮต์ (63.1°F) พร้อมระบบชดเชย ATC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✔ Hardware Link &amp; Battery: ตรวจสอบระดับแบตเตอรี่สำรอง (90%) และสถานะการเชื่อมต่อ 5G/4G ได้ตลอด 24 ชม.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ตัวอย่างข้อความแจ้งเตือนเมื่อพบค่าผิดปกติ (Telegram vs LINE OA)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✈️ รูปแบบ Telegram Alert (ส่งฟรี &amp; ไวมาก)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แจ้งเตือนคุณภาพน้ำผิดปกติ</a:t>
            </a:r>
            <a:br/>
            <a:r>
              <a:t>📍 จุดติดตั้ง: บ่อพักน้ำ #04 (ตู้ 1004)</a:t>
            </a:r>
            <a:br/>
            <a:r>
              <a:t>⏰ เวลา: 14:15 น.</a:t>
            </a:r>
            <a:br/>
            <a:r>
              <a:t>━━━━━━━━━━━━━━━━━━━━</a:t>
            </a:r>
            <a:br/>
            <a:r>
              <a:t>• คลอรีน: 0.15 mg/L ❌ (เกณฑ์ 0.20-2.00)</a:t>
            </a:r>
            <a:br/>
            <a:r>
              <a:t>• pH: 6.4 ❌ (เกณฑ์ 6.5-8.5)</a:t>
            </a:r>
            <a:br/>
            <a:r>
              <a:t>• TDS: 185 ppm (ปกติ)</a:t>
            </a:r>
            <a:br/>
            <a:r>
              <a:t>• อุณหภูมิ: 28.5 °C (ปกติ)</a:t>
            </a:r>
            <a:br/>
            <a:r>
              <a:t>━━━━━━━━━━━━━━━━━━━━</a:t>
            </a:r>
            <a:br/>
            <a:r>
              <a:t>🔗 ดูกราฟย้อนหลัง: https://water-iot.com/node/1004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จุดเด่น: ส่งฟรี 100% ไม่มีค่า Broadcast รายเดือน กำไรเต็มเม็ดเต็มหน่วย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💬 รูปแบบ LINE OA Alert (การ์ดสถานะยอดนิยม)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[CRITICAL] คุณภาพน้ำหลุดเกณฑ์</a:t>
            </a:r>
            <a:br/>
            <a:r>
              <a:t>📍 สถานี: บ่อจ่ายน้ำเขตเหนือ</a:t>
            </a:r>
            <a:br/>
            <a:r>
              <a:t>━━━━━━━━━━━━━━━━━━━━</a:t>
            </a:r>
            <a:br/>
            <a:r>
              <a:t>• คลอรีน: 0.12 mg/L ⚠️ (ต่ำกว่าเกณฑ์)</a:t>
            </a:r>
            <a:br/>
            <a:r>
              <a:t>• ค่า pH: 6.30 ⚠️ (ต่ำกว่าเกณฑ์)</a:t>
            </a:r>
            <a:br/>
            <a:r>
              <a:t>• ค่า TDS: 190 ppm (ปกติ)</a:t>
            </a:r>
            <a:br/>
            <a:r>
              <a:t>• อุณหภูมิ: 29.0 °C (ปกติ)</a:t>
            </a:r>
            <a:br/>
            <a:r>
              <a:t>━━━━━━━━━━━━━━━━━━━━</a:t>
            </a:r>
            <a:br/>
            <a:r>
              <a:t>👉 [เปิด Dashboard ดูข้อมูลสด]</a:t>
            </a:r>
          </a:p>
          <a:p>
            <a:pPr>
              <a:defRPr sz="950" b="1">
                <a:solidFill>
                  <a:srgbClr val="0284C7"/>
                </a:solidFill>
              </a:defRPr>
            </a:pPr>
            <a:r>
              <a:t>✔ จุดเด่น: ใช้งานง่ายในกลุ่มไลน์ผู้บริหาร (+฿1,500/จุด เพื่อซับพอร์ตค่า Broadcast LINE)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ตารางต้นทุนฮาร์ดแวร์และอุปกรณ์ต่อชุด (Hardware BOM per Unit)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ชุดเซนเซอร์หลัก (Modela One + pH/TDS/Temp + คลอรีน Cybertice)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฿17,000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บอร์ดควบคุมหลัก Modela One (Modbus RTU/RS-485)</a:t>
            </a:r>
            <a:br/>
            <a:r>
              <a:t>• หัววัด pH แก้วอุตสาหกรรม (±0.01 pH)</a:t>
            </a:r>
            <a:br/>
            <a:r>
              <a:t>• หัววัด TDS / EC Titanium Dual-Pole</a:t>
            </a:r>
            <a:br/>
            <a:r>
              <a:t>• หัววัดอุณหภูมิ PT1000 (พร้อม ATC ชดเชยอุณหภูมิ)</a:t>
            </a:r>
            <a:br/>
            <a:r>
              <a:t>• เซนเซอร์คลอรีนคงเหลือ Cybertice (Residual Chlorine)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4G LTE Router (TP-Link TL-MR100)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เราเตอร์ 4G LTE Wi-Fi ความเร็ว 300 Mbps</a:t>
            </a:r>
            <a:br/>
            <a:r>
              <a:t>• เสารับสัญญาณภายนอก 2 เสา สัญญาณนิ่งเสถียร</a:t>
            </a:r>
            <a:br/>
            <a:r>
              <a:t>• เชื่อมต่อระบบ Telemetry สดทุก 1 วินาที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ซิมการ์ด 4G รายปี (Unlimited 15-20 Mbps)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฿1,800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ซิมเน็ต IoT รายปี ไม่อั้น ไม่ลดสปีด (15-20 Mbps)</a:t>
            </a:r>
            <a:br/>
            <a:r>
              <a:t>• รวมค่าบริการเครือข่าย 12 เดือนเต็ม</a:t>
            </a:r>
            <a:br/>
            <a:r>
              <a:t>• ส่งข้อมูลขึ้นระบบคลาวด์และแจ้งเตือน 24 ชม.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ตู้คอนโทรล IP65 + Switching 24V + Breaker + Wiring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฿1,200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ตู้กันน้ำกันฝุ่นมาตรฐาน IP65</a:t>
            </a:r>
            <a:br/>
            <a:r>
              <a:t>• แหล่งจ่ายไฟ Switching Power Supply 24V</a:t>
            </a:r>
            <a:br/>
            <a:r>
              <a:t>• Breaker ป้องกันไฟเกิน + Terminal + สายไฟประกอบครบ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2DD4BF"/>
                </a:solidFill>
              </a:defRPr>
            </a:pPr>
            <a:r>
              <a:t>➡️ รวมต้นทุนต่อชุด: ฿21,000 บาท  |  รวมต้นทุนโครงการ (100 ชุด): ฿2,100,000 บาท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ต้นทุนนี้ครอบคลุมชุดหัววัดเซนเซอร์ 4 ค่า (pH / TDS / Temp / Cl) + กล่อง Modela One + เราเตอร์ 4G TP-Link + ซิมรายปี + ตู้ IP65 ประกอบสำเร็จพร้อมใช้งาน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โครงสร้างราคาขายแนะนำ (แพ็กเกจโครงการ 100 ชุด)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11887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[แบบที่ 1] ส่งมอบอุปกรณ์พร้อมระบบออนไลน์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Plug &amp; Play / Supply Only (ราคา ฿29,500 - ฿32,000 / ชุด)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📋 ขอบเขตงาน (Scope of Work):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ประกอบตู้คอนโทรลสำเร็จรูป พร้อมเดินระบบไฟภายใน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ใส่ซิมรายปีและตั้งค่าเชื่อมต่อเน็ตเวิร์ก 4G LTE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เชื่อมต่อ Modbus อ่านค่า pH, TDS, Temp, Chlorine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ตั้งค่าระบบ Modela App สำหรับดูข้อมูลและแจ้งเตือนผ่านมือถือ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จัดทำ Web Dashboard กลางรวมข้อมูลทั้ง 100 จุด</a:t>
            </a:r>
          </a:p>
          <a:p>
            <a:pPr>
              <a:spcBef>
                <a:spcPts val="800"/>
              </a:spcBef>
              <a:defRPr b="1" sz="1000">
                <a:solidFill>
                  <a:srgbClr val="0284C7"/>
                </a:solidFill>
              </a:defRPr>
            </a:pPr>
            <a:r>
              <a:t>💰 มูลค่าโครงการรวม (100 ชุด): ฿2,950,000 - ฿3,200,000 บาท</a:t>
            </a:r>
            <a:br/>
            <a:r>
              <a:t>📈 กำไรขั้นต้นโดยประมาณ: ฿850,000 - ฿1,100,000 บาท (Margin ~29-34%)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120640" cy="11887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[แบบที่ 2] แบบครบวงจร รวมติดตั้งหน้างาน + สอบเทียบ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Turnkey Solution (ราคา ฿38,000 - ฿42,000 / ชุด)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7432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📋 ขอบเขตงาน (Scope of Work):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ทุกอย่างในแบบที่ 1 (ตู้ + ซิม + Modbus + App + Web Dashboard)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ค่าแรงและทีมงานเข้าติดตั้งยึดตู้ / เดินท่อบายพาสหน้างาน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สอบเทียบ (Calibration) หัววัด pH / TDS ด้วยน้ำยามาตรฐานหน้างาน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อบรมการใช้งานระบบและส่งมอบคู่มือการปฏิบัติงาน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รับประกันระบบและบริการ On-site Service ตลอด 1 ปีเต็ม</a:t>
            </a:r>
          </a:p>
          <a:p>
            <a:pPr>
              <a:spcBef>
                <a:spcPts val="800"/>
              </a:spcBef>
              <a:defRPr b="1" sz="1000">
                <a:solidFill>
                  <a:srgbClr val="059669"/>
                </a:solidFill>
              </a:defRPr>
            </a:pPr>
            <a:r>
              <a:t>💰 มูลค่าโครงการรวม (100 ชุด): ฿3,800,000 - ฿4,200,000 บาท</a:t>
            </a:r>
            <a:br/>
            <a:r>
              <a:t>📈 กำไรขั้นต้นโดยประมาณ: ฿1,700,000 - ฿2,100,000 บาท (Margin ~45-50%)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สรุปภาพรวมข้อเสนอราคาและเงื่อนไขสัญญา (100 ชุด)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600"/>
              </a:spcAft>
              <a:defRPr sz="1350">
                <a:solidFill>
                  <a:srgbClr val="CBD5E1"/>
                </a:solidFill>
              </a:defRPr>
            </a:pPr>
            <a:r>
              <a:t>พร้อมส่งมอบอุปกรณ์และระบบแดชบอร์ดครบวงจรตามขอบเขตที่ลูกค้าเลือก:</a:t>
            </a:r>
          </a:p>
          <a:p>
            <a:pPr>
              <a:spcAft>
                <a:spcPts val="2400"/>
              </a:spcAft>
              <a:defRPr sz="1100">
                <a:solidFill>
                  <a:srgbClr val="E2E8F0"/>
                </a:solidFill>
              </a:defRPr>
            </a:pPr>
            <a:r>
              <a:t>• รวมต้นทุนฮาร์ดแวร์ต่อชุด: ฿21,000 บาท (100 ชุด = ฿2,100,000 บาท)</a:t>
            </a:r>
            <a:br/>
            <a:r>
              <a:t>• [แบบที่ 1 Plug &amp; Play]: ฿29,500 - ฿32,000 บ./ชุด (รวม ฿2.95M - ฿3.20M | กำไร ฿8.5 แสน - ฿1.1 ล้าน)</a:t>
            </a:r>
            <a:br/>
            <a:r>
              <a:t>• [แบบที่ 2 Turnkey]: ฿38,000 - ฿42,000 บ./ชุด (รวม ฿3.80M - ฿4.20M | กำไร ฿1.7 - ฿2.1 ล้าน)</a:t>
            </a:r>
            <a:br/>
            <a:r>
              <a:t>• ซอฟต์แวร์แดชบอร์ด 100 จุด: ซื้อขาด ฿2.5 - ฿6.0 แสน | รายปี ฿1.2 - ฿3.6 แสน/ปี (Recurring Income)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