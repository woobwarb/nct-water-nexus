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1188720"/>
            <a:ext cx="9601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2DD4BF"/>
                </a:solidFill>
              </a:defRPr>
            </a:pPr>
            <a:r>
              <a:t>💧 ENTERPRISE IOT WATER QUALITY MONITORING SOLUTION</a:t>
            </a:r>
          </a:p>
          <a:p>
            <a:pPr>
              <a:spcAft>
                <a:spcPts val="600"/>
              </a:spcAft>
              <a:defRPr sz="3600" b="1">
                <a:solidFill>
                  <a:srgbClr val="FFFFFF"/>
                </a:solidFill>
              </a:defRPr>
            </a:pPr>
            <a:r>
              <a:t>NCT WATER NEXUS PRO</a:t>
            </a:r>
          </a:p>
          <a:p>
            <a:pPr>
              <a:spcAft>
                <a:spcPts val="1800"/>
              </a:spcAft>
              <a:defRPr sz="1800">
                <a:solidFill>
                  <a:srgbClr val="CBD5E1"/>
                </a:solidFill>
              </a:defRPr>
            </a:pPr>
            <a:r>
              <a:t>100-Node Scalable Water Quality Intelligence &amp; Telemetry Solution</a:t>
            </a:r>
          </a:p>
          <a:p>
            <a:pPr>
              <a:spcAft>
                <a:spcPts val="3000"/>
              </a:spcAft>
              <a:defRPr sz="1250">
                <a:solidFill>
                  <a:srgbClr val="94A3B8"/>
                </a:solidFill>
              </a:defRPr>
            </a:pPr>
            <a:r>
              <a:t>โซลูชันระบบตรวจวัดคุณภาพน้ำอัจฉริยะแบบกลุ่มโครงการ (Lot of 100 Nodes Package)</a:t>
            </a:r>
            <a:br/>
            <a:r>
              <a:t>โครงสร้างราคา 2 รูปแบบ: 【 แบบซื้อขาด (One-Time) 】 vs 【 แบบสัญญารายปี (Annual Subscription) 】</a:t>
            </a:r>
          </a:p>
          <a:p>
            <a:pPr>
              <a:defRPr sz="1100">
                <a:solidFill>
                  <a:srgbClr val="2DD4BF"/>
                </a:solidFill>
              </a:defRPr>
            </a:pPr>
            <a:r>
              <a:t>NCT Water Solutions  •  System Version 2.5 Pro  •  August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</a:defRPr>
            </a:pPr>
            <a:r>
              <a:t>NCT WATER NEXUS PRO | 100-NODE PROJECT SOLUTION</a:t>
            </a:r>
          </a:p>
          <a:p>
            <a:pPr>
              <a:defRPr sz="2300" b="1">
                <a:solidFill>
                  <a:srgbClr val="0F172A"/>
                </a:solidFill>
              </a:defRPr>
            </a:pPr>
            <a:r>
              <a:t>จุดเด่นของโซลูชันโครงการชุดละ 100 สถานี (Lot of 100 Nodes Solution)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24688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2468880" cy="1371600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2194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FFFFFF"/>
                </a:solidFill>
              </a:defRPr>
            </a:pPr>
            <a:r>
              <a:t>ระบบรวมศูนย์ 100 จุด</a:t>
            </a:r>
          </a:p>
          <a:p>
            <a:pPr>
              <a:defRPr sz="1400" b="1">
                <a:solidFill>
                  <a:srgbClr val="FFFFFF"/>
                </a:solidFill>
              </a:defRPr>
            </a:pPr>
            <a:r>
              <a:t>🗺️ Centralized SCADA Multi-Node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017520"/>
            <a:ext cx="21945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64748B"/>
                </a:solidFill>
              </a:defRPr>
            </a:pPr>
            <a:r>
              <a:t>แดชบอร์ดแผนที่ GIS และ Grid View รวมสถานีตรวจวัดน้ำทั้ง 100 จุดไว้ในจอเดียว ตรวจเช็คสถานะ Online/Offline และค่าน้ำได้พร้อมกันแบบ Real-Time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463040"/>
            <a:ext cx="24688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474720" y="1463040"/>
            <a:ext cx="2468880" cy="137160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11880" y="1600200"/>
            <a:ext cx="2194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FFFFFF"/>
                </a:solidFill>
              </a:defRPr>
            </a:pPr>
            <a:r>
              <a:t>สลับดู 100 สถานีในมือถือ</a:t>
            </a:r>
          </a:p>
          <a:p>
            <a:pPr>
              <a:defRPr sz="1400" b="1">
                <a:solidFill>
                  <a:srgbClr val="FFFFFF"/>
                </a:solidFill>
              </a:defRPr>
            </a:pPr>
            <a:r>
              <a:t>📱 Multi-Device Mobile App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11880" y="3017520"/>
            <a:ext cx="21945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64748B"/>
                </a:solidFill>
              </a:defRPr>
            </a:pPr>
            <a:r>
              <a:t>ผู้บริหารและวิศวกรสามารถเลือกดูข้อมูลสถานีใดก็ได้ใน 100 จุดผ่านสมาร์ทโฟน พร้อมระบบแจ้งเตือน Line Alert แยกตามโซนพื้นที่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463040"/>
            <a:ext cx="24688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17920" y="1463040"/>
            <a:ext cx="2468880" cy="137160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1600200"/>
            <a:ext cx="2194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FFFFFF"/>
                </a:solidFill>
              </a:defRPr>
            </a:pPr>
            <a:r>
              <a:t>ติดแบรนด์และโลโก้ลูกค้า</a:t>
            </a:r>
          </a:p>
          <a:p>
            <a:pPr>
              <a:defRPr sz="1400" b="1">
                <a:solidFill>
                  <a:srgbClr val="FFFFFF"/>
                </a:solidFill>
              </a:defRPr>
            </a:pPr>
            <a:r>
              <a:t>🏷️ White-Label Branding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3017520"/>
            <a:ext cx="21945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64748B"/>
                </a:solidFill>
              </a:defRPr>
            </a:pPr>
            <a:r>
              <a:t>ฟรีสกรีนโลโก้และชื่อโครงการของลูกค้าบนตู้ควบคุมคอนโทรลเลอร์ทั้ง 100 ชุด และปรับแต่ง UI แดชบอร์ดตามอัตลักษณ์ขององค์กร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20" y="1463040"/>
            <a:ext cx="24688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961120" y="1463040"/>
            <a:ext cx="2468880" cy="13716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98280" y="1600200"/>
            <a:ext cx="2194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FFFFFF"/>
                </a:solidFill>
              </a:defRPr>
            </a:pPr>
            <a:r>
              <a:t>อะไหล่สำรอง &amp; ทีมดูแล</a:t>
            </a:r>
          </a:p>
          <a:p>
            <a:pPr>
              <a:defRPr sz="1400" b="1">
                <a:solidFill>
                  <a:srgbClr val="FFFFFF"/>
                </a:solidFill>
              </a:defRPr>
            </a:pPr>
            <a:r>
              <a:t>🛡️ 5% Spare Units &amp; On-site SLA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98280" y="3017520"/>
            <a:ext cx="21945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64748B"/>
                </a:solidFill>
              </a:defRPr>
            </a:pPr>
            <a:r>
              <a:t>ส่งมอบเครื่องและเซนเซอร์สำรองฉุกเฉินประจำไซต์งาน 5 ชุด (5%) พร้อมทีมวิศวกรเข้าอบรมช่างเทคนิคและดูแลตลอดโครงการ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</a:defRPr>
            </a:pPr>
            <a:r>
              <a:t>NCT WATER NEXUS PRO | 100-NODE PROJECT SOLUTION</a:t>
            </a:r>
          </a:p>
          <a:p>
            <a:pPr>
              <a:defRPr sz="2300" b="1">
                <a:solidFill>
                  <a:srgbClr val="0F172A"/>
                </a:solidFill>
              </a:defRPr>
            </a:pPr>
            <a:r>
              <a:t>ตารางราคาจำหน่าย: ราคาต่อชุด (&lt;100) vs แพ็กเกจโครงการ 100 ชุด (Lot of 100)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463040"/>
          <a:ext cx="10728655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9055"/>
                <a:gridCol w="2057400"/>
                <a:gridCol w="2057400"/>
                <a:gridCol w="2057400"/>
                <a:gridCol w="2057400"/>
              </a:tblGrid>
              <a:tr h="561702"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ระดับแพ็กเกจ (Tier)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ซื้อขาด (&lt; 100 ชุด)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ซื้อขาด (Lot 100 ชุด)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รายปี (&lt; 100 ชุด)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รายปี (Lot 100 ชุด/ปี)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561702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1. Standard (pH + Temp PT1000)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0284C7"/>
                          </a:solidFill>
                        </a:defRPr>
                      </a:pPr>
                      <a:r>
                        <a:t>฿24,900 / ชุด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0284C7"/>
                          </a:solidFill>
                        </a:defRPr>
                      </a:pPr>
                      <a:r>
                        <a:t>฿2,190,000 / Lot</a:t>
                      </a:r>
                      <a:br/>
                      <a:r>
                        <a:t>(฿21,900/ชุด)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059669"/>
                          </a:solidFill>
                        </a:defRPr>
                      </a:pPr>
                      <a:r>
                        <a:t>฿12,000 / ชุด / ปี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059669"/>
                          </a:solidFill>
                        </a:defRPr>
                      </a:pPr>
                      <a:r>
                        <a:t>฿1,050,000 / Lot / ปี</a:t>
                      </a:r>
                      <a:br/>
                      <a:r>
                        <a:t>(฿10,500/ชุด/ปี)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1702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2. Pro 4-in-1 (pH, Temp, TDS, Cl)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0284C7"/>
                          </a:solidFill>
                        </a:defRPr>
                      </a:pPr>
                      <a:r>
                        <a:t>฿49,000 / ชุด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0284C7"/>
                          </a:solidFill>
                        </a:defRPr>
                      </a:pPr>
                      <a:r>
                        <a:t>฿4,250,000 / Lot</a:t>
                      </a:r>
                      <a:br/>
                      <a:r>
                        <a:t>(฿42,500/ชุด)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059669"/>
                          </a:solidFill>
                        </a:defRPr>
                      </a:pPr>
                      <a:r>
                        <a:t>฿24,000 / ชุด / ปี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059669"/>
                          </a:solidFill>
                        </a:defRPr>
                      </a:pPr>
                      <a:r>
                        <a:t>฿2,100,000 / Lot / ปี</a:t>
                      </a:r>
                      <a:br/>
                      <a:r>
                        <a:t>(฿21,000/ชุด/ปี)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61702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3. Enterprise 5-in-1 (+ ORP)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0284C7"/>
                          </a:solidFill>
                        </a:defRPr>
                      </a:pPr>
                      <a:r>
                        <a:t>฿79,000 / ชุด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0284C7"/>
                          </a:solidFill>
                        </a:defRPr>
                      </a:pPr>
                      <a:r>
                        <a:t>฿6,900,000 / Lot</a:t>
                      </a:r>
                      <a:br/>
                      <a:r>
                        <a:t>(฿69,000/ชุด)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059669"/>
                          </a:solidFill>
                        </a:defRPr>
                      </a:pPr>
                      <a:r>
                        <a:t>฿39,000 / ชุด / ปี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059669"/>
                          </a:solidFill>
                        </a:defRPr>
                      </a:pPr>
                      <a:r>
                        <a:t>฿3,450,000 / Lot / ปี</a:t>
                      </a:r>
                      <a:br/>
                      <a:r>
                        <a:t>(฿34,500/ชุด/ปี)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1702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กรรมสิทธิ์อุปกรณ์ (Hardware)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0284C7"/>
                          </a:solidFill>
                        </a:defRPr>
                      </a:pPr>
                      <a:r>
                        <a:t>เป็นของลูกค้า 100%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0284C7"/>
                          </a:solidFill>
                        </a:defRPr>
                      </a:pPr>
                      <a:r>
                        <a:t>เป็นของลูกค้า 100%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059669"/>
                          </a:solidFill>
                        </a:defRPr>
                      </a:pPr>
                      <a:r>
                        <a:t>ให้ยืมเครื่องฟรีตลอดสัญญา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059669"/>
                          </a:solidFill>
                        </a:defRPr>
                      </a:pPr>
                      <a:r>
                        <a:t>ให้ยืมเครื่องฟรีตลอดสัญญา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61702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อะไหล่สำรองหน้างาน (Spares)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0284C7"/>
                          </a:solidFill>
                        </a:defRPr>
                      </a:pPr>
                      <a:r>
                        <a:t>ฟรีตามระยะประกัน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0284C7"/>
                          </a:solidFill>
                        </a:defRPr>
                      </a:pPr>
                      <a:r>
                        <a:t>ฟรีตามประกัน + Spare 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059669"/>
                          </a:solidFill>
                        </a:defRPr>
                      </a:pPr>
                      <a:r>
                        <a:t>ฟรี 100% ตลอดสัญญา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059669"/>
                          </a:solidFill>
                        </a:defRPr>
                      </a:pPr>
                      <a:r>
                        <a:t>ฟรี 100% + Spare 5% (5 ชุด)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1708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Cloud &amp; ซิม 4G Telemetry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0284C7"/>
                          </a:solidFill>
                        </a:defRPr>
                      </a:pPr>
                      <a:r>
                        <a:t>ฟรี 1-2 ปีแรก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0284C7"/>
                          </a:solidFill>
                        </a:defRPr>
                      </a:pPr>
                      <a:r>
                        <a:t>ฟรี 2 ปีเต็ม (Private Server)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059669"/>
                          </a:solidFill>
                        </a:defRPr>
                      </a:pPr>
                      <a:r>
                        <a:t>รวมอยู่ในค่าบริการแล้ว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059669"/>
                          </a:solidFill>
                        </a:defRPr>
                      </a:pPr>
                      <a:r>
                        <a:t>รวมอยู่ในค่าบริการแล้ว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731520" y="5577840"/>
            <a:ext cx="10728655" cy="822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562356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F172A"/>
                </a:solidFill>
              </a:defRPr>
            </a:pPr>
            <a:r>
              <a:t>💡 แพ็กเกจโครงการ 100 ชุด ให้ส่วนลดพิเศษโครงการ ~12-13% พร้อมจัดส่งเครื่องสำรองหน้างาน (Spare Units) 5% ทันที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</a:defRPr>
            </a:pPr>
            <a:r>
              <a:t>NCT WATER NEXUS PRO | 100-NODE PROJECT SOLUTION</a:t>
            </a:r>
          </a:p>
          <a:p>
            <a:pPr>
              <a:defRPr sz="2300" b="1">
                <a:solidFill>
                  <a:srgbClr val="0F172A"/>
                </a:solidFill>
              </a:defRPr>
            </a:pPr>
            <a:r>
              <a:t>แพ็กเกจโครงการ 100 ชุด: แบบซื้อขาด (100-Node Outright Packages)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33832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3383280" cy="118872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30175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2DD4BF"/>
                </a:solidFill>
              </a:defRPr>
            </a:pPr>
            <a:r>
              <a:t>ซื้อขาด • 100 สถานี</a:t>
            </a:r>
          </a:p>
          <a:p>
            <a:pPr>
              <a:defRPr sz="1400" b="1">
                <a:solidFill>
                  <a:srgbClr val="FFFFFF"/>
                </a:solidFill>
              </a:defRPr>
            </a:pPr>
            <a:r>
              <a:t>STANDARD LOT 100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฿2,190,000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743200"/>
            <a:ext cx="3017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1">
                <a:solidFill>
                  <a:srgbClr val="0284C7"/>
                </a:solidFill>
              </a:defRPr>
            </a:pPr>
            <a:r>
              <a:t>ตรวจวัด pH + Temp รวม 100 จุด (เฉลี่ย ฿21,900 / จุด)</a:t>
            </a:r>
          </a:p>
          <a:p>
            <a:pPr>
              <a:spcAft>
                <a:spcPts val="300"/>
              </a:spcAft>
              <a:defRPr sz="900">
                <a:solidFill>
                  <a:srgbClr val="0F172A"/>
                </a:solidFill>
              </a:defRPr>
            </a:pPr>
            <a:r>
              <a:t>✓ 100x ตู้ควบคุม NCT WiFi Node</a:t>
            </a:r>
          </a:p>
          <a:p>
            <a:pPr>
              <a:spcAft>
                <a:spcPts val="300"/>
              </a:spcAft>
              <a:defRPr sz="900">
                <a:solidFill>
                  <a:srgbClr val="0F172A"/>
                </a:solidFill>
              </a:defRPr>
            </a:pPr>
            <a:r>
              <a:t>✓ 100x หัววัด pH แก้วอุตสาหกรรม (±0.01 pH)</a:t>
            </a:r>
          </a:p>
          <a:p>
            <a:pPr>
              <a:spcAft>
                <a:spcPts val="300"/>
              </a:spcAft>
              <a:defRPr sz="900">
                <a:solidFill>
                  <a:srgbClr val="0F172A"/>
                </a:solidFill>
              </a:defRPr>
            </a:pPr>
            <a:r>
              <a:t>✓ 100x หัววัดอุณหภูมิ PT1000 (พร้อม ATC)</a:t>
            </a:r>
          </a:p>
          <a:p>
            <a:pPr>
              <a:spcAft>
                <a:spcPts val="300"/>
              </a:spcAft>
              <a:defRPr sz="900">
                <a:solidFill>
                  <a:srgbClr val="0F172A"/>
                </a:solidFill>
              </a:defRPr>
            </a:pPr>
            <a:r>
              <a:t>✓ รวม Dashboard รวมศูนย์ 100 จุด (GIS Map)</a:t>
            </a:r>
          </a:p>
          <a:p>
            <a:pPr>
              <a:spcAft>
                <a:spcPts val="300"/>
              </a:spcAft>
              <a:defRPr sz="900">
                <a:solidFill>
                  <a:srgbClr val="0F172A"/>
                </a:solidFill>
              </a:defRPr>
            </a:pPr>
            <a:r>
              <a:t>✓ ฟรี Cloud Server &amp; ซิม 4G ตลอด 2 ปีแรก</a:t>
            </a:r>
          </a:p>
          <a:p>
            <a:pPr>
              <a:spcAft>
                <a:spcPts val="300"/>
              </a:spcAft>
              <a:defRPr sz="900">
                <a:solidFill>
                  <a:srgbClr val="0F172A"/>
                </a:solidFill>
              </a:defRPr>
            </a:pPr>
            <a:r>
              <a:t>✓ แถมฟรีชุดสำรองหน้างาน Spare Units 5 ชุด</a:t>
            </a:r>
          </a:p>
          <a:p>
            <a:pPr>
              <a:spcAft>
                <a:spcPts val="300"/>
              </a:spcAft>
              <a:defRPr sz="900">
                <a:solidFill>
                  <a:srgbClr val="0F172A"/>
                </a:solidFill>
              </a:defRPr>
            </a:pPr>
            <a:r>
              <a:t>✓ รับประกันอุปกรณ์ 2 ปีเต็ม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463040"/>
            <a:ext cx="33832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89120" y="1463040"/>
            <a:ext cx="3383280" cy="1188720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554480"/>
            <a:ext cx="30175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FFFFF"/>
                </a:solidFill>
              </a:defRPr>
            </a:pPr>
            <a:r>
              <a:t>★ ยอดนิยมสูงสุด</a:t>
            </a:r>
          </a:p>
          <a:p>
            <a:pPr>
              <a:defRPr sz="1400" b="1">
                <a:solidFill>
                  <a:srgbClr val="FFFFFF"/>
                </a:solidFill>
              </a:defRPr>
            </a:pPr>
            <a:r>
              <a:t>PRO TELEMETRY LOT 100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฿4,250,000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743200"/>
            <a:ext cx="3017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1">
                <a:solidFill>
                  <a:srgbClr val="0284C7"/>
                </a:solidFill>
              </a:defRPr>
            </a:pPr>
            <a:r>
              <a:t>ยอดนิยม! ตรวจวัดครบ 4 ค่า รวม 100 จุด (เฉลี่ย ฿42,500 / จุด (ประหยัด ฿650,000))</a:t>
            </a:r>
          </a:p>
          <a:p>
            <a:pPr>
              <a:spcAft>
                <a:spcPts val="300"/>
              </a:spcAft>
              <a:defRPr sz="900">
                <a:solidFill>
                  <a:srgbClr val="0F172A"/>
                </a:solidFill>
              </a:defRPr>
            </a:pPr>
            <a:r>
              <a:t>✓ 100x Heavy-Duty SCADA Node (IP67)</a:t>
            </a:r>
          </a:p>
          <a:p>
            <a:pPr>
              <a:spcAft>
                <a:spcPts val="300"/>
              </a:spcAft>
              <a:defRPr sz="900">
                <a:solidFill>
                  <a:srgbClr val="0F172A"/>
                </a:solidFill>
              </a:defRPr>
            </a:pPr>
            <a:r>
              <a:t>✓ 100x เซนเซอร์ 4 ค่า (pH, Temp, TDS, Cl)</a:t>
            </a:r>
          </a:p>
          <a:p>
            <a:pPr>
              <a:spcAft>
                <a:spcPts val="300"/>
              </a:spcAft>
              <a:defRPr sz="900">
                <a:solidFill>
                  <a:srgbClr val="0F172A"/>
                </a:solidFill>
              </a:defRPr>
            </a:pPr>
            <a:r>
              <a:t>✓ Dual Telemetry 4G LTE + WiFi ทุกจุด</a:t>
            </a:r>
          </a:p>
          <a:p>
            <a:pPr>
              <a:spcAft>
                <a:spcPts val="300"/>
              </a:spcAft>
              <a:defRPr sz="900">
                <a:solidFill>
                  <a:srgbClr val="0F172A"/>
                </a:solidFill>
              </a:defRPr>
            </a:pPr>
            <a:r>
              <a:t>✓ แบตเตอรี่สำรอง LiFePO4 ครบทั้ง 100 ตู้</a:t>
            </a:r>
          </a:p>
          <a:p>
            <a:pPr>
              <a:spcAft>
                <a:spcPts val="300"/>
              </a:spcAft>
              <a:defRPr sz="900">
                <a:solidFill>
                  <a:srgbClr val="0F172A"/>
                </a:solidFill>
              </a:defRPr>
            </a:pPr>
            <a:r>
              <a:t>✓ ฟรี Private Cloud Server &amp; Custom Domain 2 ปี</a:t>
            </a:r>
          </a:p>
          <a:p>
            <a:pPr>
              <a:spcAft>
                <a:spcPts val="300"/>
              </a:spcAft>
              <a:defRPr sz="900">
                <a:solidFill>
                  <a:srgbClr val="0F172A"/>
                </a:solidFill>
              </a:defRPr>
            </a:pPr>
            <a:r>
              <a:t>✓ ฟรี White-label สกรีนโลโก้ลูกค้าบน 100 ตู้</a:t>
            </a:r>
          </a:p>
          <a:p>
            <a:pPr>
              <a:spcAft>
                <a:spcPts val="300"/>
              </a:spcAft>
              <a:defRPr sz="900">
                <a:solidFill>
                  <a:srgbClr val="0F172A"/>
                </a:solidFill>
              </a:defRPr>
            </a:pPr>
            <a:r>
              <a:t>✓ แถมชุดสำรอง Spare Units 5 ชุด + ประกัน 2 ปี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463040"/>
            <a:ext cx="33832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046720" y="1463040"/>
            <a:ext cx="3383280" cy="118872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1554480"/>
            <a:ext cx="30175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FFFFF"/>
                </a:solidFill>
              </a:defRPr>
            </a:pPr>
            <a:r>
              <a:t>Lab Grade • 100 สถานี</a:t>
            </a:r>
          </a:p>
          <a:p>
            <a:pPr>
              <a:defRPr sz="1400" b="1">
                <a:solidFill>
                  <a:srgbClr val="FFFFFF"/>
                </a:solidFill>
              </a:defRPr>
            </a:pPr>
            <a:r>
              <a:t>ENTERPRISE LOT 100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฿6,900,000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2743200"/>
            <a:ext cx="3017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1">
                <a:solidFill>
                  <a:srgbClr val="059669"/>
                </a:solidFill>
              </a:defRPr>
            </a:pPr>
            <a:r>
              <a:t>ระดับห้องแล็บ 5 พารามิเตอร์ รวม 100 จุด (เฉลี่ย ฿69,000 / จุด (ประหยัด ฿1,000,000))</a:t>
            </a:r>
          </a:p>
          <a:p>
            <a:pPr>
              <a:spcAft>
                <a:spcPts val="300"/>
              </a:spcAft>
              <a:defRPr sz="900">
                <a:solidFill>
                  <a:srgbClr val="0F172A"/>
                </a:solidFill>
              </a:defRPr>
            </a:pPr>
            <a:r>
              <a:t>✓ 100x Master SCADA PLC Hub</a:t>
            </a:r>
          </a:p>
          <a:p>
            <a:pPr>
              <a:spcAft>
                <a:spcPts val="300"/>
              </a:spcAft>
              <a:defRPr sz="900">
                <a:solidFill>
                  <a:srgbClr val="0F172A"/>
                </a:solidFill>
              </a:defRPr>
            </a:pPr>
            <a:r>
              <a:t>✓ 100x เซนเซอร์แล็บ 5 ค่า (+ ORP)</a:t>
            </a:r>
          </a:p>
          <a:p>
            <a:pPr>
              <a:spcAft>
                <a:spcPts val="300"/>
              </a:spcAft>
              <a:defRPr sz="900">
                <a:solidFill>
                  <a:srgbClr val="0F172A"/>
                </a:solidFill>
              </a:defRPr>
            </a:pPr>
            <a:r>
              <a:t>✓ 100x ชุดกระเปาะ Flow Cell Chamber</a:t>
            </a:r>
          </a:p>
          <a:p>
            <a:pPr>
              <a:spcAft>
                <a:spcPts val="300"/>
              </a:spcAft>
              <a:defRPr sz="900">
                <a:solidFill>
                  <a:srgbClr val="0F172A"/>
                </a:solidFill>
              </a:defRPr>
            </a:pPr>
            <a:r>
              <a:t>✓ Dual Power Supply + LiFePO4 Backup</a:t>
            </a:r>
          </a:p>
          <a:p>
            <a:pPr>
              <a:spcAft>
                <a:spcPts val="300"/>
              </a:spcAft>
              <a:defRPr sz="900">
                <a:solidFill>
                  <a:srgbClr val="0F172A"/>
                </a:solidFill>
              </a:defRPr>
            </a:pPr>
            <a:r>
              <a:t>✓ Cloud Unlimited + Modbus TCP/ERP API</a:t>
            </a:r>
          </a:p>
          <a:p>
            <a:pPr>
              <a:spcAft>
                <a:spcPts val="300"/>
              </a:spcAft>
              <a:defRPr sz="900">
                <a:solidFill>
                  <a:srgbClr val="0F172A"/>
                </a:solidFill>
              </a:defRPr>
            </a:pPr>
            <a:r>
              <a:t>✓ บริการ Calibrate หน้างาน 4 ครั้ง/ปี</a:t>
            </a:r>
          </a:p>
          <a:p>
            <a:pPr>
              <a:spcAft>
                <a:spcPts val="300"/>
              </a:spcAft>
              <a:defRPr sz="900">
                <a:solidFill>
                  <a:srgbClr val="0F172A"/>
                </a:solidFill>
              </a:defRPr>
            </a:pPr>
            <a:r>
              <a:t>✓ แถมชุดสำรอง Spare Units 5 ชุด + ประกัน 3 ปี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</a:defRPr>
            </a:pPr>
            <a:r>
              <a:t>NCT WATER NEXUS PRO | 100-NODE PROJECT SOLUTION</a:t>
            </a:r>
          </a:p>
          <a:p>
            <a:pPr>
              <a:defRPr sz="2300" b="1">
                <a:solidFill>
                  <a:srgbClr val="0F172A"/>
                </a:solidFill>
              </a:defRPr>
            </a:pPr>
            <a:r>
              <a:t>แพ็กเกจโครงการ 100 ชุด: แบบสัญญารายปี (100-Node Annual Subscription)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33832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3383280" cy="118872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30175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2DD4BF"/>
                </a:solidFill>
              </a:defRPr>
            </a:pPr>
            <a:r>
              <a:t>รายปี • 100 สถานี</a:t>
            </a:r>
          </a:p>
          <a:p>
            <a:pPr>
              <a:defRPr sz="1350" b="1">
                <a:solidFill>
                  <a:srgbClr val="FFFFFF"/>
                </a:solidFill>
              </a:defRPr>
            </a:pPr>
            <a:r>
              <a:t>STANDARD CARE LOT 100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฿1,050,000 / ปี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743200"/>
            <a:ext cx="3017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1">
                <a:solidFill>
                  <a:srgbClr val="0284C7"/>
                </a:solidFill>
              </a:defRPr>
            </a:pPr>
            <a:r>
              <a:t>pH + Temp 100 จุด (เฉลี่ย ฿875/จุด/ด.)</a:t>
            </a:r>
          </a:p>
          <a:p>
            <a:pPr>
              <a:spcAft>
                <a:spcPts val="300"/>
              </a:spcAft>
              <a:defRPr sz="900">
                <a:solidFill>
                  <a:srgbClr val="0F172A"/>
                </a:solidFill>
              </a:defRPr>
            </a:pPr>
            <a:r>
              <a:t>✓ ให้ยืมเครื่อง NCT Controller ครบ 100 ชุด</a:t>
            </a:r>
          </a:p>
          <a:p>
            <a:pPr>
              <a:spcAft>
                <a:spcPts val="300"/>
              </a:spcAft>
              <a:defRPr sz="900">
                <a:solidFill>
                  <a:srgbClr val="0F172A"/>
                </a:solidFill>
              </a:defRPr>
            </a:pPr>
            <a:r>
              <a:t>✓ หัววัด pH + Temp 100 ชุด (เปลี่ยนฟรีเมื่อเสื่อม)</a:t>
            </a:r>
          </a:p>
          <a:p>
            <a:pPr>
              <a:spcAft>
                <a:spcPts val="300"/>
              </a:spcAft>
              <a:defRPr sz="900">
                <a:solidFill>
                  <a:srgbClr val="0F172A"/>
                </a:solidFill>
              </a:defRPr>
            </a:pPr>
            <a:r>
              <a:t>✓ ฟรี Cloud Server &amp; ซิม 4G 100 ซิม ไม่จำกัด</a:t>
            </a:r>
          </a:p>
          <a:p>
            <a:pPr>
              <a:spcAft>
                <a:spcPts val="300"/>
              </a:spcAft>
              <a:defRPr sz="900">
                <a:solidFill>
                  <a:srgbClr val="0F172A"/>
                </a:solidFill>
              </a:defRPr>
            </a:pPr>
            <a:r>
              <a:t>✓ ระบบรวมศูนย์ SCADA 100 จุด + Mobile App</a:t>
            </a:r>
          </a:p>
          <a:p>
            <a:pPr>
              <a:spcAft>
                <a:spcPts val="300"/>
              </a:spcAft>
              <a:defRPr sz="900">
                <a:solidFill>
                  <a:srgbClr val="0F172A"/>
                </a:solidFill>
              </a:defRPr>
            </a:pPr>
            <a:r>
              <a:t>✓ แจ้งเตือน Line Alert &amp; SMS แยกโซน 24 ชม.</a:t>
            </a:r>
          </a:p>
          <a:p>
            <a:pPr>
              <a:spcAft>
                <a:spcPts val="300"/>
              </a:spcAft>
              <a:defRPr sz="900">
                <a:solidFill>
                  <a:srgbClr val="0F172A"/>
                </a:solidFill>
              </a:defRPr>
            </a:pPr>
            <a:r>
              <a:t>✓ แถมชุดสำรอง Spare Units ประจำไซต์ 5 ชุด</a:t>
            </a:r>
          </a:p>
          <a:p>
            <a:pPr>
              <a:spcAft>
                <a:spcPts val="300"/>
              </a:spcAft>
              <a:defRPr sz="900">
                <a:solidFill>
                  <a:srgbClr val="0F172A"/>
                </a:solidFill>
              </a:defRPr>
            </a:pPr>
            <a:r>
              <a:t>✓ ดูแลและรับประกันตลอดอายุสัญญาเช่า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463040"/>
            <a:ext cx="33832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89120" y="1463040"/>
            <a:ext cx="3383280" cy="1188720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554480"/>
            <a:ext cx="30175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FFFFF"/>
                </a:solidFill>
              </a:defRPr>
            </a:pPr>
            <a:r>
              <a:t>★ แนะนำสำหรับนิคมฯ/ประปา</a:t>
            </a:r>
          </a:p>
          <a:p>
            <a:pPr>
              <a:defRPr sz="1350" b="1">
                <a:solidFill>
                  <a:srgbClr val="FFFFFF"/>
                </a:solidFill>
              </a:defRPr>
            </a:pPr>
            <a:r>
              <a:t>PRO CARE LOT 100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฿2,100,000 / ปี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743200"/>
            <a:ext cx="3017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1">
                <a:solidFill>
                  <a:srgbClr val="0284C7"/>
                </a:solidFill>
              </a:defRPr>
            </a:pPr>
            <a:r>
              <a:t>ตรวจ 4 ค่า 100 จุด (เฉลี่ย ฿1,750/จุด/ด.)</a:t>
            </a:r>
          </a:p>
          <a:p>
            <a:pPr>
              <a:spcAft>
                <a:spcPts val="300"/>
              </a:spcAft>
              <a:defRPr sz="900">
                <a:solidFill>
                  <a:srgbClr val="0F172A"/>
                </a:solidFill>
              </a:defRPr>
            </a:pPr>
            <a:r>
              <a:t>✓ ให้ยืมเครื่อง Heavy-Duty SCADA ครบ 100 ชุด</a:t>
            </a:r>
          </a:p>
          <a:p>
            <a:pPr>
              <a:spcAft>
                <a:spcPts val="300"/>
              </a:spcAft>
              <a:defRPr sz="900">
                <a:solidFill>
                  <a:srgbClr val="0F172A"/>
                </a:solidFill>
              </a:defRPr>
            </a:pPr>
            <a:r>
              <a:t>✓ หัววัดครบ 4 ค่า (pH, Temp, TDS, Cl) 100 จุด</a:t>
            </a:r>
          </a:p>
          <a:p>
            <a:pPr>
              <a:spcAft>
                <a:spcPts val="300"/>
              </a:spcAft>
              <a:defRPr sz="900">
                <a:solidFill>
                  <a:srgbClr val="0F172A"/>
                </a:solidFill>
              </a:defRPr>
            </a:pPr>
            <a:r>
              <a:t>✓ ฟรี Calibrate สอบเทียบหน้างาน 2 ครั้ง/ปี</a:t>
            </a:r>
          </a:p>
          <a:p>
            <a:pPr>
              <a:spcAft>
                <a:spcPts val="300"/>
              </a:spcAft>
              <a:defRPr sz="900">
                <a:solidFill>
                  <a:srgbClr val="0F172A"/>
                </a:solidFill>
              </a:defRPr>
            </a:pPr>
            <a:r>
              <a:t>✓ ฟรีอะไหล่และหัววัดเปลี่ยนใหม่ทันทีตลอดสัญญา</a:t>
            </a:r>
          </a:p>
          <a:p>
            <a:pPr>
              <a:spcAft>
                <a:spcPts val="300"/>
              </a:spcAft>
              <a:defRPr sz="900">
                <a:solidFill>
                  <a:srgbClr val="0F172A"/>
                </a:solidFill>
              </a:defRPr>
            </a:pPr>
            <a:r>
              <a:t>✓ ฟรี Private Cloud Server &amp; White-Label Logo</a:t>
            </a:r>
          </a:p>
          <a:p>
            <a:pPr>
              <a:spcAft>
                <a:spcPts val="300"/>
              </a:spcAft>
              <a:defRPr sz="900">
                <a:solidFill>
                  <a:srgbClr val="0F172A"/>
                </a:solidFill>
              </a:defRPr>
            </a:pPr>
            <a:r>
              <a:t>✓ แถมชุดสำรอง Spare Units 5 ชุด + On-site SLA</a:t>
            </a:r>
          </a:p>
          <a:p>
            <a:pPr>
              <a:spcAft>
                <a:spcPts val="300"/>
              </a:spcAft>
              <a:defRPr sz="900">
                <a:solidFill>
                  <a:srgbClr val="0F172A"/>
                </a:solidFill>
              </a:defRPr>
            </a:pPr>
            <a:r>
              <a:t>✓ ทีมวิศวกร Support ดูแลตลอดสัญญา 24/7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463040"/>
            <a:ext cx="33832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046720" y="1463040"/>
            <a:ext cx="3383280" cy="118872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1554480"/>
            <a:ext cx="30175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FFFFF"/>
                </a:solidFill>
              </a:defRPr>
            </a:pPr>
            <a:r>
              <a:t>Full SLA • 100 สถานี</a:t>
            </a:r>
          </a:p>
          <a:p>
            <a:pPr>
              <a:defRPr sz="1350" b="1">
                <a:solidFill>
                  <a:srgbClr val="FFFFFF"/>
                </a:solidFill>
              </a:defRPr>
            </a:pPr>
            <a:r>
              <a:t>ENTERPRISE CARE LOT 100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฿3,450,000 / ปี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2743200"/>
            <a:ext cx="3017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1">
                <a:solidFill>
                  <a:srgbClr val="059669"/>
                </a:solidFill>
              </a:defRPr>
            </a:pPr>
            <a:r>
              <a:t>เกรดแล็บ 5 ค่า 100 จุด (เฉลี่ย ฿2,875/จุด/ด.)</a:t>
            </a:r>
          </a:p>
          <a:p>
            <a:pPr>
              <a:spcAft>
                <a:spcPts val="300"/>
              </a:spcAft>
              <a:defRPr sz="900">
                <a:solidFill>
                  <a:srgbClr val="0F172A"/>
                </a:solidFill>
              </a:defRPr>
            </a:pPr>
            <a:r>
              <a:t>✓ ให้ยืมตู้ Master SCADA PLC Hub ครบ 100 ชุด</a:t>
            </a:r>
          </a:p>
          <a:p>
            <a:pPr>
              <a:spcAft>
                <a:spcPts val="300"/>
              </a:spcAft>
              <a:defRPr sz="900">
                <a:solidFill>
                  <a:srgbClr val="0F172A"/>
                </a:solidFill>
              </a:defRPr>
            </a:pPr>
            <a:r>
              <a:t>✓ หัววัด 5 ค่า (+ ORP) + Flow Cell 100 จุด</a:t>
            </a:r>
          </a:p>
          <a:p>
            <a:pPr>
              <a:spcAft>
                <a:spcPts val="300"/>
              </a:spcAft>
              <a:defRPr sz="900">
                <a:solidFill>
                  <a:srgbClr val="0F172A"/>
                </a:solidFill>
              </a:defRPr>
            </a:pPr>
            <a:r>
              <a:t>✓ ฟรี Calibrate 4 ครั้ง/ปี พร้อมใบรับรอง ISO</a:t>
            </a:r>
          </a:p>
          <a:p>
            <a:pPr>
              <a:spcAft>
                <a:spcPts val="300"/>
              </a:spcAft>
              <a:defRPr sz="900">
                <a:solidFill>
                  <a:srgbClr val="0F172A"/>
                </a:solidFill>
              </a:defRPr>
            </a:pPr>
            <a:r>
              <a:t>✓ Cloud Unlimited + Modbus TCP / ERP API</a:t>
            </a:r>
          </a:p>
          <a:p>
            <a:pPr>
              <a:spcAft>
                <a:spcPts val="300"/>
              </a:spcAft>
              <a:defRPr sz="900">
                <a:solidFill>
                  <a:srgbClr val="0F172A"/>
                </a:solidFill>
              </a:defRPr>
            </a:pPr>
            <a:r>
              <a:t>✓ เครื่องสำรองประจำไซต์ 5 ชุด + เคลมใน 24 ชม.</a:t>
            </a:r>
          </a:p>
          <a:p>
            <a:pPr>
              <a:spcAft>
                <a:spcPts val="300"/>
              </a:spcAft>
              <a:defRPr sz="900">
                <a:solidFill>
                  <a:srgbClr val="0F172A"/>
                </a:solidFill>
              </a:defRPr>
            </a:pPr>
            <a:r>
              <a:t>✓ สัญญาบริการระดับ Priority 24/7 SLA</a:t>
            </a:r>
          </a:p>
          <a:p>
            <a:pPr>
              <a:spcAft>
                <a:spcPts val="300"/>
              </a:spcAft>
              <a:defRPr sz="900">
                <a:solidFill>
                  <a:srgbClr val="0F172A"/>
                </a:solidFill>
              </a:defRPr>
            </a:pPr>
            <a:r>
              <a:t>✓ ทีมวิศวกรประจำโครงการดูแลเฉพาะองค์กร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</a:defRPr>
            </a:pPr>
            <a:r>
              <a:t>NCT WATER NEXUS PRO | 100-NODE PROJECT SOLUTION</a:t>
            </a:r>
          </a:p>
          <a:p>
            <a:pPr>
              <a:defRPr sz="2300" b="1">
                <a:solidFill>
                  <a:srgbClr val="0F172A"/>
                </a:solidFill>
              </a:defRPr>
            </a:pPr>
            <a:r>
              <a:t>สเปกเซนเซอร์ตรวจวัดคุณภาพน้ำ (High-Precision Sensor Probes)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2468880" cy="2926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0200"/>
            <a:ext cx="21945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D97706"/>
                </a:solidFill>
              </a:defRPr>
            </a:pPr>
            <a:r>
              <a:t>SENSOR 01</a:t>
            </a:r>
          </a:p>
          <a:p>
            <a:pPr>
              <a:spcAft>
                <a:spcPts val="400"/>
              </a:spcAft>
              <a:defRPr sz="1300" b="1">
                <a:solidFill>
                  <a:srgbClr val="0F172A"/>
                </a:solidFill>
              </a:defRPr>
            </a:pPr>
            <a:r>
              <a:t>อุณหภูมิน้ำ (Water Temp)</a:t>
            </a:r>
          </a:p>
          <a:p>
            <a:pPr>
              <a:spcAft>
                <a:spcPts val="600"/>
              </a:spcAft>
              <a:defRPr sz="1050" b="1">
                <a:solidFill>
                  <a:srgbClr val="D97706"/>
                </a:solidFill>
              </a:defRPr>
            </a:pPr>
            <a:r>
              <a:t>หัววัด: PT1000 Platinum RTD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ช่วงวัด: 0.0 - 50.0°C</a:t>
            </a:r>
            <a:br/>
            <a:r>
              <a:t>ความละเอียด: ±0.1°C</a:t>
            </a:r>
            <a:br/>
            <a:r>
              <a:t>ฟังก์ชัน: ระบบชดเชยอุณหภูมิอัตโนมัติ (ATC Compensation) เพื่อความเที่ยงตรงสูงสุดของค่า pH &amp; TDS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0" y="1463040"/>
            <a:ext cx="2468880" cy="2926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11880" y="1600200"/>
            <a:ext cx="21945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SENSOR 02</a:t>
            </a:r>
          </a:p>
          <a:p>
            <a:pPr>
              <a:spcAft>
                <a:spcPts val="400"/>
              </a:spcAft>
              <a:defRPr sz="1300" b="1">
                <a:solidFill>
                  <a:srgbClr val="0F172A"/>
                </a:solidFill>
              </a:defRPr>
            </a:pPr>
            <a:r>
              <a:t>ความเป็นกรด-ด่าง (pH)</a:t>
            </a:r>
          </a:p>
          <a:p>
            <a:pPr>
              <a:spcAft>
                <a:spcPts val="600"/>
              </a:spcAft>
              <a:defRPr sz="1050" b="1">
                <a:solidFill>
                  <a:srgbClr val="0284C7"/>
                </a:solidFill>
              </a:defRPr>
            </a:pPr>
            <a:r>
              <a:t>หัววัด: Industrial Glass Electrode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ช่วงวัด: 0.00 - 14.00 pH</a:t>
            </a:r>
            <a:br/>
            <a:r>
              <a:t>ความแม่นยำ: ±0.01 pH</a:t>
            </a:r>
            <a:br/>
            <a:r>
              <a:t>เกณฑ์มาตรฐาน: 6.50 - 8.50 pH</a:t>
            </a:r>
            <a:br/>
            <a:r>
              <a:t>รองรับการสอบเทียบดิจิทัล (Buffer 4.01, 7.00, 10.01)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2468880" cy="2926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600200"/>
            <a:ext cx="21945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59669"/>
                </a:solidFill>
              </a:defRPr>
            </a:pPr>
            <a:r>
              <a:t>SENSOR 03</a:t>
            </a:r>
          </a:p>
          <a:p>
            <a:pPr>
              <a:spcAft>
                <a:spcPts val="400"/>
              </a:spcAft>
              <a:defRPr sz="1300" b="1">
                <a:solidFill>
                  <a:srgbClr val="0F172A"/>
                </a:solidFill>
              </a:defRPr>
            </a:pPr>
            <a:r>
              <a:t>สารละลายรวม (TDS / EC)</a:t>
            </a:r>
          </a:p>
          <a:p>
            <a:pPr>
              <a:spcAft>
                <a:spcPts val="600"/>
              </a:spcAft>
              <a:defRPr sz="1050" b="1">
                <a:solidFill>
                  <a:srgbClr val="059669"/>
                </a:solidFill>
              </a:defRPr>
            </a:pPr>
            <a:r>
              <a:t>หัววัด: Titanium Alloy 2-Pole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ช่วงวัด: 0 - 2,000 ppm (mg/L)</a:t>
            </a:r>
            <a:br/>
            <a:r>
              <a:t>ความแม่นยำ: ±2% F.S.</a:t>
            </a:r>
            <a:br/>
            <a:r>
              <a:t>เกณฑ์มาตรฐาน: &lt; 500 ppm</a:t>
            </a:r>
            <a:br/>
            <a:r>
              <a:t>ตรวจจับปริมาณสารแขวนลอยและแร่ธาตุในน้ำ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0" y="1463040"/>
            <a:ext cx="2468880" cy="2926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98280" y="1600200"/>
            <a:ext cx="21945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SENSOR 04</a:t>
            </a:r>
          </a:p>
          <a:p>
            <a:pPr>
              <a:spcAft>
                <a:spcPts val="400"/>
              </a:spcAft>
              <a:defRPr sz="1300" b="1">
                <a:solidFill>
                  <a:srgbClr val="0F172A"/>
                </a:solidFill>
              </a:defRPr>
            </a:pPr>
            <a:r>
              <a:t>คลอรีนคงเหลือ (Residual Cl)</a:t>
            </a:r>
          </a:p>
          <a:p>
            <a:pPr>
              <a:spcAft>
                <a:spcPts val="600"/>
              </a:spcAft>
              <a:defRPr sz="1050" b="1">
                <a:solidFill>
                  <a:srgbClr val="0284C7"/>
                </a:solidFill>
              </a:defRPr>
            </a:pPr>
            <a:r>
              <a:t>หัววัด: Amperometric Probe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ช่วงวัด: 0.00 - 5.00 mg/L (ppm)</a:t>
            </a:r>
            <a:br/>
            <a:r>
              <a:t>ความแม่นยำ: ±0.05 mg/L</a:t>
            </a:r>
            <a:br/>
            <a:r>
              <a:t>เกณฑ์มาตรฐาน: 0.20 - 2.00 mg/L</a:t>
            </a:r>
            <a:br/>
            <a:r>
              <a:t>ตรวจเช็คประสิทธิภาพการฆ่าเชื้อโรค 100%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663440"/>
            <a:ext cx="10728655" cy="164592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800600"/>
            <a:ext cx="10149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2DD4BF"/>
                </a:solidFill>
              </a:defRPr>
            </a:pPr>
            <a:r>
              <a:t>🎛️ SMART INDUSTRIAL CONTROLLER NODE &amp; TELEMETRY</a:t>
            </a:r>
          </a:p>
          <a:p>
            <a:pPr>
              <a:defRPr sz="1050">
                <a:solidFill>
                  <a:srgbClr val="E2E8F0"/>
                </a:solidFill>
              </a:defRPr>
            </a:pPr>
            <a:r>
              <a:t>• Telemetry Multi-Link: ส่งสัญญาณผ่าน WiFi 2.4GHz, 4G LTE Cellular และ Modbus RS-485 สู่ระบบ Cloud SCADA ตลอด 24 ชม.</a:t>
            </a:r>
            <a:br/>
            <a:r>
              <a:t>• ระบบสำรองไฟอัจฉริยะ (LiFePO4 Battery Backup): ใช้งานต่อเนื่องแม้ยามไฟดับ พร้อมระบบตรวจสอบระดับแบตเตอรี่ Real-time</a:t>
            </a:r>
            <a:br/>
            <a:r>
              <a:t>• Alarm Output Relay: พอร์ต Dry Contact สำหรับต่อไซเรนเตือนภัยภายนอก หรือส่งสัญญาณต่อไปยังระบบ SCADA / PLC เดิมของโรงงาน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</a:defRPr>
            </a:pPr>
            <a:r>
              <a:t>NCT WATER NEXUS PRO | 100-NODE PROJECT SOLUTION</a:t>
            </a:r>
          </a:p>
          <a:p>
            <a:pPr>
              <a:defRPr sz="2300" b="1">
                <a:solidFill>
                  <a:srgbClr val="0F172A"/>
                </a:solidFill>
              </a:defRPr>
            </a:pPr>
            <a:r>
              <a:t>ระบบแดชบอร์ดรวมศูนย์ 100 จุด (Centralized 100-Node Dashboard)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691640"/>
            <a:ext cx="4572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284C7"/>
                </a:solidFill>
              </a:defRPr>
            </a:pPr>
            <a:r>
              <a:t>💻 1. Centralized SCADA Widescreen View</a:t>
            </a:r>
          </a:p>
          <a:p>
            <a:pPr>
              <a:defRPr b="1" sz="1100">
                <a:solidFill>
                  <a:srgbClr val="0F172A"/>
                </a:solidFill>
              </a:defRPr>
            </a:pPr>
            <a:r>
              <a:t>• GIS Map &amp; 100-Node Grid Overview:</a:t>
            </a:r>
          </a:p>
          <a:p>
            <a:pPr>
              <a:spcAft>
                <a:spcPts val="600"/>
              </a:spcAft>
              <a:defRPr sz="1000">
                <a:solidFill>
                  <a:srgbClr val="64748B"/>
                </a:solidFill>
              </a:defRPr>
            </a:pPr>
            <a:r>
              <a:t>  แสดงตำแหน่งและสถานะของทั้ง 100 สถานีบนแผนที่ GIS ตรวจเช็คจุดผิดปกติได้ทันที</a:t>
            </a:r>
          </a:p>
          <a:p>
            <a:pPr>
              <a:defRPr b="1" sz="1100">
                <a:solidFill>
                  <a:srgbClr val="0F172A"/>
                </a:solidFill>
              </a:defRPr>
            </a:pPr>
            <a:r>
              <a:t>• High-Frequency Telemetry Trends:</a:t>
            </a:r>
          </a:p>
          <a:p>
            <a:pPr>
              <a:spcAft>
                <a:spcPts val="600"/>
              </a:spcAft>
              <a:defRPr sz="1000">
                <a:solidFill>
                  <a:srgbClr val="64748B"/>
                </a:solidFill>
              </a:defRPr>
            </a:pPr>
            <a:r>
              <a:t>  กราฟ Real-Time Dynamic Charts วิเคราะห์แนวโน้มคุณภาพน้ำของแต่ละสถานี 24 ชม.</a:t>
            </a:r>
          </a:p>
          <a:p>
            <a:pPr>
              <a:defRPr b="1" sz="1100">
                <a:solidFill>
                  <a:srgbClr val="0F172A"/>
                </a:solidFill>
              </a:defRPr>
            </a:pPr>
            <a:r>
              <a:t>• Zone Alert Management:</a:t>
            </a:r>
          </a:p>
          <a:p>
            <a:pPr>
              <a:spcAft>
                <a:spcPts val="600"/>
              </a:spcAft>
              <a:defRPr sz="1000">
                <a:solidFill>
                  <a:srgbClr val="64748B"/>
                </a:solidFill>
              </a:defRPr>
            </a:pPr>
            <a:r>
              <a:t>  ระบบแยกกลุ่มโซนการแจ้งเตือนตามพื้นที่ (เช่น โซนอาคาร A, โซนโรงงาน 1-4)</a:t>
            </a:r>
          </a:p>
          <a:p>
            <a:pPr>
              <a:defRPr b="1" sz="1100">
                <a:solidFill>
                  <a:srgbClr val="0F172A"/>
                </a:solidFill>
              </a:defRPr>
            </a:pPr>
            <a:r>
              <a:t>• Automated Compliance Reports:</a:t>
            </a:r>
          </a:p>
          <a:p>
            <a:pPr>
              <a:spcAft>
                <a:spcPts val="600"/>
              </a:spcAft>
              <a:defRPr sz="1000">
                <a:solidFill>
                  <a:srgbClr val="64748B"/>
                </a:solidFill>
              </a:defRPr>
            </a:pPr>
            <a:r>
              <a:t>  สร้างรายงานสรุปเปรียบเทียบ 100 จุดอัตโนมัติ ส่งออกเป็น Excel / PDF ในคลิกเดียว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463040"/>
            <a:ext cx="51206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0" y="1691640"/>
            <a:ext cx="4572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59669"/>
                </a:solidFill>
              </a:defRPr>
            </a:pPr>
            <a:r>
              <a:t>📱 2. Multi-Station Mobile Companion App</a:t>
            </a:r>
          </a:p>
          <a:p>
            <a:pPr>
              <a:defRPr b="1" sz="1100">
                <a:solidFill>
                  <a:srgbClr val="0F172A"/>
                </a:solidFill>
              </a:defRPr>
            </a:pPr>
            <a:r>
              <a:t>• 100-Device Hub Selector:</a:t>
            </a:r>
          </a:p>
          <a:p>
            <a:pPr>
              <a:spcAft>
                <a:spcPts val="600"/>
              </a:spcAft>
              <a:defRPr sz="1000">
                <a:solidFill>
                  <a:srgbClr val="64748B"/>
                </a:solidFill>
              </a:defRPr>
            </a:pPr>
            <a:r>
              <a:t>  สลับดูข้อมูลสถานีตรวจวัดน้ำทั้ง 100 จุดได้ง่ายดายในแอปเดียว (ค้นหาตามชื่อ/โซน)</a:t>
            </a:r>
          </a:p>
          <a:p>
            <a:pPr>
              <a:defRPr b="1" sz="1100">
                <a:solidFill>
                  <a:srgbClr val="0F172A"/>
                </a:solidFill>
              </a:defRPr>
            </a:pPr>
            <a:r>
              <a:t>• Instant Push Notification &amp; Line Alert:</a:t>
            </a:r>
          </a:p>
          <a:p>
            <a:pPr>
              <a:spcAft>
                <a:spcPts val="600"/>
              </a:spcAft>
              <a:defRPr sz="1000">
                <a:solidFill>
                  <a:srgbClr val="64748B"/>
                </a:solidFill>
              </a:defRPr>
            </a:pPr>
            <a:r>
              <a:t>  แจ้งเตือนข้อความฉุกเฉินทันทีเมื่อมีจุดใดจุดหนึ่งใน 100 จุดหลุดเกณฑ์มาตรฐาน</a:t>
            </a:r>
          </a:p>
          <a:p>
            <a:pPr>
              <a:defRPr b="1" sz="1100">
                <a:solidFill>
                  <a:srgbClr val="0F172A"/>
                </a:solidFill>
              </a:defRPr>
            </a:pPr>
            <a:r>
              <a:t>• Color-Coded Status Cards:</a:t>
            </a:r>
          </a:p>
          <a:p>
            <a:pPr>
              <a:spcAft>
                <a:spcPts val="600"/>
              </a:spcAft>
              <a:defRPr sz="1000">
                <a:solidFill>
                  <a:srgbClr val="64748B"/>
                </a:solidFill>
              </a:defRPr>
            </a:pPr>
            <a:r>
              <a:t>  แสดงสถานะด้วยสีเขียว/เหลือง/แดง ชัดเจน รู้ทันทีว่าจุดไหนปกติดีหรือต้องตรวจเช็ค</a:t>
            </a:r>
          </a:p>
          <a:p>
            <a:pPr>
              <a:defRPr b="1" sz="1100">
                <a:solidFill>
                  <a:srgbClr val="0F172A"/>
                </a:solidFill>
              </a:defRPr>
            </a:pPr>
            <a:r>
              <a:t>• Offline Battery &amp; Link Monitor:</a:t>
            </a:r>
          </a:p>
          <a:p>
            <a:pPr>
              <a:spcAft>
                <a:spcPts val="600"/>
              </a:spcAft>
              <a:defRPr sz="1000">
                <a:solidFill>
                  <a:srgbClr val="64748B"/>
                </a:solidFill>
              </a:defRPr>
            </a:pPr>
            <a:r>
              <a:t>  ตรวจสอบสัญญาณ WiFi/4G และระดับแบตเตอรี่สำรองของทุกตู้ได้จากระยะไกล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1188720"/>
            <a:ext cx="9601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2DD4BF"/>
                </a:solidFill>
              </a:defRPr>
            </a:pPr>
            <a:r>
              <a:t>💧 โซลูชันบริหารจัดการคุณภาพน้ำระดับโครงการ 100 สถานี</a:t>
            </a:r>
          </a:p>
          <a:p>
            <a:pPr>
              <a:spcAft>
                <a:spcPts val="800"/>
              </a:spcAft>
              <a:defRPr sz="3000" b="1">
                <a:solidFill>
                  <a:srgbClr val="FFFFFF"/>
                </a:solidFill>
              </a:defRPr>
            </a:pPr>
            <a:r>
              <a:t>NCT WATER NEXUS PRO (LOT OF 100 NODES)</a:t>
            </a:r>
          </a:p>
          <a:p>
            <a:pPr>
              <a:spcAft>
                <a:spcPts val="2000"/>
              </a:spcAft>
              <a:defRPr sz="1350">
                <a:solidFill>
                  <a:srgbClr val="CBD5E1"/>
                </a:solidFill>
              </a:defRPr>
            </a:pPr>
            <a:r>
              <a:t>พร้อมให้คำปรึกษา ออกแบบระบบ และจัดทำใบเสนอราคาโครงการ 100 จุดโดยทีมวิศวกรผู้เชี่ยวชาญ</a:t>
            </a:r>
          </a:p>
          <a:p>
            <a:pPr>
              <a:defRPr b="1" sz="1300">
                <a:solidFill>
                  <a:srgbClr val="FFFFFF"/>
                </a:solidFill>
              </a:defRPr>
            </a:pPr>
            <a:r>
              <a:t>✨ สรุปข้อเสนอแพ็กเกจโครงการ 100 จุด:</a:t>
            </a:r>
          </a:p>
          <a:p>
            <a:pPr>
              <a:spcAft>
                <a:spcPts val="2400"/>
              </a:spcAft>
              <a:defRPr sz="1100">
                <a:solidFill>
                  <a:srgbClr val="E2E8F0"/>
                </a:solidFill>
              </a:defRPr>
            </a:pPr>
            <a:r>
              <a:t>• ซื้อขาด 100 จุด (Outright Lot): ฿2,190,000 – ฿6,900,000 (เฉลี่ย ฿21,900 – ฿69,000 / จุด)</a:t>
            </a:r>
            <a:br/>
            <a:r>
              <a:t>• สัญญารายปี 100 จุด (Annual Lot): ฿1,050,000 – ฿3,450,000 / ปี (เฉลี่ย ฿875 – ฿2,875 / จุด / เดือน)</a:t>
            </a:r>
            <a:br/>
            <a:r>
              <a:t>• รวมแถมเครื่องสำรอง Spare 5% + Private Cloud + White-label Logo ฟรี</a:t>
            </a:r>
            <a:br/>
            <a:r>
              <a:t>• ทดลองดู Dashboard จำลองออนไลน์ได้ที่: https://woobwarb.github.io/nct-water-nexus/</a:t>
            </a:r>
          </a:p>
          <a:p>
            <a:pPr>
              <a:defRPr sz="1200" b="1">
                <a:solidFill>
                  <a:srgbClr val="2DD4BF"/>
                </a:solidFill>
              </a:defRPr>
            </a:pPr>
            <a:r>
              <a:t>📞 สนใจสอบถามข้อมูลเพิ่มเติมและขอใบเสนอราคา (Request for Quotation):</a:t>
            </a:r>
            <a:br/>
            <a:r>
              <a:t>• Email: sales@nct-water.com  |  Tel: 02-XXX-XXXX, 08X-XXX-XXXX  |  Line: @nctwater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