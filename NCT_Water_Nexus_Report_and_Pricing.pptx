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731520"/>
            <a:ext cx="10728655" cy="53949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80160" y="1188720"/>
            <a:ext cx="96012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2DD4BF"/>
                </a:solidFill>
              </a:defRPr>
            </a:pPr>
            <a:r>
              <a:t>💧 ชุดอุปกรณ์ตรวจวัดคุณภาพน้ำอัจฉริยะสำเร็จรูป (Modela + Cybertice)</a:t>
            </a:r>
          </a:p>
          <a:p>
            <a:pPr>
              <a:spcAft>
                <a:spcPts val="600"/>
              </a:spcAft>
              <a:defRPr sz="3600" b="1">
                <a:solidFill>
                  <a:srgbClr val="FFFFFF"/>
                </a:solidFill>
              </a:defRPr>
            </a:pPr>
            <a:r>
              <a:t>NCT WATER NEXUS PRO</a:t>
            </a:r>
          </a:p>
          <a:p>
            <a:pPr>
              <a:spcAft>
                <a:spcPts val="1800"/>
              </a:spcAft>
              <a:defRPr sz="1600">
                <a:solidFill>
                  <a:srgbClr val="CBD5E1"/>
                </a:solidFill>
              </a:defRPr>
            </a:pPr>
            <a:r>
              <a:t>รายงานนำเสนอโซลูชันระบบตรวจวัดคุณภาพน้ำ แดชบอร์ดควบคุม และใบเสนอราคามาตรฐานต่อชุด</a:t>
            </a:r>
          </a:p>
          <a:p>
            <a:pPr>
              <a:spcAft>
                <a:spcPts val="2800"/>
              </a:spcAft>
              <a:defRPr sz="1150">
                <a:solidFill>
                  <a:srgbClr val="94A3B8"/>
                </a:solidFill>
              </a:defRPr>
            </a:pPr>
            <a:r>
              <a:t>• 4 พารามิเตอร์คุณภาพน้ำ: pH / TDS / อุณหภูมิน้ำ (ATC) / คลอรีนคงเหลือ (Residual Cl)</a:t>
            </a:r>
            <a:br/>
            <a:r>
              <a:t>• 4.1 รุ่น 4G LTE Plug &amp; Play: ฿36,000 / ชุด (มีเราเตอร์ + ซิม Unlimited ฟรีปีแรก • สั่งปลีก ฿39,500 / ชุด)</a:t>
            </a:r>
            <a:br/>
            <a:r>
              <a:t>• 4.2 รุ่น Wi-Fi Direct: ฿32,000 / ชุด (ตัดเราเตอร์และซิมออก ต่อ Wi-Fi หน้างานตรง • สั่งปลีก ฿35,500 / ชุด)</a:t>
            </a:r>
            <a:br/>
            <a:r>
              <a:t>• ปีที่ 2 เป็นต้นไป: ค่าบริการ Cloud Server &amp; Software MA เดือนละ 300 บาท/จุด (เน็ตฟรีเฉพาะปีแรก)</a:t>
            </a:r>
            <a:br/>
            <a:r>
              <a:t>• ทั้งสองรุ่นผูกสิทธิ์ Web Dashboard และ Cloud ฟรีปีแรก รองรับสูงสุด 100 จุด (เกิน 100 จุดมีค่าบริหารจัดการเพิ่ม)</a:t>
            </a:r>
          </a:p>
          <a:p>
            <a:pPr>
              <a:defRPr sz="1100">
                <a:solidFill>
                  <a:srgbClr val="2DD4BF"/>
                </a:solidFill>
              </a:defRPr>
            </a:pPr>
            <a:r>
              <a:t>NCT PROSPERA TECH SOLUTIONS CO., LTD.  •  System Version 2.6 Pro  •  September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284C7"/>
                </a:solidFill>
              </a:defRPr>
            </a:pPr>
            <a:r>
              <a:t>NCT PROSPERA TECH SOLUTIONS CO., LTD. • WATER QUALITY MONITORING</a:t>
            </a:r>
          </a:p>
          <a:p>
            <a:pPr>
              <a:defRPr sz="2200" b="1">
                <a:solidFill>
                  <a:srgbClr val="0F172A"/>
                </a:solidFill>
              </a:defRPr>
            </a:pPr>
            <a:r>
              <a:t>1. ข้อมูลผลิตภัณฑ์และข้อกำหนดทางเทคนิค 4 พารามิเตอร์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246888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2468880" cy="1097280"/>
          </a:xfrm>
          <a:prstGeom prst="round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8" y="1554480"/>
            <a:ext cx="2249424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FFFFFF"/>
                </a:solidFill>
              </a:defRPr>
            </a:pPr>
            <a:r>
              <a:t>พารามิเตอร์ #1</a:t>
            </a:r>
          </a:p>
          <a:p>
            <a:pPr>
              <a:defRPr sz="1200" b="1">
                <a:solidFill>
                  <a:srgbClr val="FFFFFF"/>
                </a:solidFill>
              </a:defRPr>
            </a:pPr>
            <a:r>
              <a:t>ความเป็นกรด-ด่าง (pH)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743200"/>
            <a:ext cx="21945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0F172A"/>
                </a:solidFill>
              </a:defRPr>
            </a:pPr>
            <a:r>
              <a:t>• ช่วงการวัด (Range):</a:t>
            </a:r>
            <a:br/>
            <a:r>
              <a:t>  0.00 – 14.00 pH</a:t>
            </a:r>
            <a:br/>
            <a:br/>
            <a:r>
              <a:t>• ความแม่นยำ (Accuracy):</a:t>
            </a:r>
            <a:br/>
            <a:r>
              <a:t>  ±0.01 pH</a:t>
            </a:r>
            <a:br/>
            <a:br/>
            <a:r>
              <a:t>• เทคโนโลยีเซนเซอร์:</a:t>
            </a:r>
            <a:br/>
            <a:r>
              <a:t>  Industrial Glass Electrode Probe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0" y="1463040"/>
            <a:ext cx="246888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474720" y="1463040"/>
            <a:ext cx="2468880" cy="1097280"/>
          </a:xfrm>
          <a:prstGeom prst="round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84448" y="1554480"/>
            <a:ext cx="2249424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FFFFFF"/>
                </a:solidFill>
              </a:defRPr>
            </a:pPr>
            <a:r>
              <a:t>พารามิเตอร์ #2</a:t>
            </a:r>
          </a:p>
          <a:p>
            <a:pPr>
              <a:defRPr sz="1200" b="1">
                <a:solidFill>
                  <a:srgbClr val="FFFFFF"/>
                </a:solidFill>
              </a:defRPr>
            </a:pPr>
            <a:r>
              <a:t>สารละลายรวม (TDS)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11880" y="2743200"/>
            <a:ext cx="21945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0F172A"/>
                </a:solidFill>
              </a:defRPr>
            </a:pPr>
            <a:r>
              <a:t>• ช่วงการวัด (Range):</a:t>
            </a:r>
            <a:br/>
            <a:r>
              <a:t>  0 – 2,000 ppm</a:t>
            </a:r>
            <a:br/>
            <a:br/>
            <a:r>
              <a:t>• ความแม่นยำ (Accuracy):</a:t>
            </a:r>
            <a:br/>
            <a:r>
              <a:t>  ±1.5% F.S.</a:t>
            </a:r>
            <a:br/>
            <a:br/>
            <a:r>
              <a:t>• เทคโนโลยีเซนเซอร์:</a:t>
            </a:r>
            <a:br/>
            <a:r>
              <a:t>  Titanium Dual-Pole Sensor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463040"/>
            <a:ext cx="246888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17920" y="1463040"/>
            <a:ext cx="2468880" cy="1097280"/>
          </a:xfrm>
          <a:prstGeom prst="round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27648" y="1554480"/>
            <a:ext cx="2249424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FFFFFF"/>
                </a:solidFill>
              </a:defRPr>
            </a:pPr>
            <a:r>
              <a:t>พารามิเตอร์ #3</a:t>
            </a:r>
          </a:p>
          <a:p>
            <a:pPr>
              <a:defRPr sz="1200" b="1">
                <a:solidFill>
                  <a:srgbClr val="FFFFFF"/>
                </a:solidFill>
              </a:defRPr>
            </a:pPr>
            <a:r>
              <a:t>อุณหภูมิน้ำ (Water Temp)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5080" y="2743200"/>
            <a:ext cx="21945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0F172A"/>
                </a:solidFill>
              </a:defRPr>
            </a:pPr>
            <a:r>
              <a:t>• ช่วงการวัด (Range):</a:t>
            </a:r>
            <a:br/>
            <a:r>
              <a:t>  -10.0 – 80.0 °C</a:t>
            </a:r>
            <a:br/>
            <a:br/>
            <a:r>
              <a:t>• ความแม่นยำ (Accuracy):</a:t>
            </a:r>
            <a:br/>
            <a:r>
              <a:t>  ±0.2 °C</a:t>
            </a:r>
            <a:br/>
            <a:br/>
            <a:r>
              <a:t>• เทคโนโลยีเซนเซอร์:</a:t>
            </a:r>
            <a:br/>
            <a:r>
              <a:t>  PT1000 RTD พร้อมระบบ ATC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61120" y="1463040"/>
            <a:ext cx="246888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961120" y="1463040"/>
            <a:ext cx="2468880" cy="109728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70848" y="1554480"/>
            <a:ext cx="2249424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FFFFFF"/>
                </a:solidFill>
              </a:defRPr>
            </a:pPr>
            <a:r>
              <a:t>พารามิเตอร์ #4</a:t>
            </a:r>
          </a:p>
          <a:p>
            <a:pPr>
              <a:defRPr sz="1200" b="1">
                <a:solidFill>
                  <a:srgbClr val="FFFFFF"/>
                </a:solidFill>
              </a:defRPr>
            </a:pPr>
            <a:r>
              <a:t>คลอรีนคงเหลือ (Residual Cl)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98280" y="2743200"/>
            <a:ext cx="21945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0F172A"/>
                </a:solidFill>
              </a:defRPr>
            </a:pPr>
            <a:r>
              <a:t>• ช่วงการวัด (Range):</a:t>
            </a:r>
            <a:br/>
            <a:r>
              <a:t>  0.00 – 5.00 mg/L</a:t>
            </a:r>
            <a:br/>
            <a:br/>
            <a:r>
              <a:t>• ความแม่นยำ (Accuracy):</a:t>
            </a:r>
            <a:br/>
            <a:r>
              <a:t>  ±0.02 mg/L</a:t>
            </a:r>
            <a:br/>
            <a:br/>
            <a:r>
              <a:t>• เทคโนโลยีเซนเซอร์:</a:t>
            </a:r>
            <a:br/>
            <a:r>
              <a:t>  Amperometric Membrane Sensor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284C7"/>
                </a:solidFill>
              </a:defRPr>
            </a:pPr>
            <a:r>
              <a:t>NCT PROSPERA TECH SOLUTIONS CO., LTD. • WATER QUALITY MONITORING</a:t>
            </a:r>
          </a:p>
          <a:p>
            <a:pPr>
              <a:defRPr sz="2200" b="1">
                <a:solidFill>
                  <a:srgbClr val="0F172A"/>
                </a:solidFill>
              </a:defRPr>
            </a:pPr>
            <a:r>
              <a:t>2. ภาพแคปหน้าจอระบบ Centralized Web Dashboard จริง (ผูกสิทธิ์ 100 จุด)</a:t>
            </a:r>
          </a:p>
        </p:txBody>
      </p:sp>
      <p:pic>
        <p:nvPicPr>
          <p:cNvPr id="3" name="Picture 2" descr="scada_perfe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463040"/>
            <a:ext cx="6217920" cy="475488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7132320" y="1463040"/>
            <a:ext cx="4327855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0" y="1600200"/>
            <a:ext cx="396209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50" b="1">
                <a:solidFill>
                  <a:srgbClr val="0284C7"/>
                </a:solidFill>
              </a:defRPr>
            </a:pPr>
            <a:r>
              <a:t>💻 ฟังก์ชันหน้าจอ Web Dashboard (ความจุ 100 จุด):</a:t>
            </a:r>
          </a:p>
          <a:p>
            <a:pPr>
              <a:spcAft>
                <a:spcPts val="300"/>
              </a:spcAft>
              <a:defRPr sz="919">
                <a:solidFill>
                  <a:srgbClr val="0F172A"/>
                </a:solidFill>
              </a:defRPr>
            </a:pPr>
            <a:r>
              <a:t>❶ สถานะระบบ &amp; ไฟเลี้ยง 24V: แสดงสถานะ Healthy, สัญญาณ 4G/WiFi และระบบไฟ Switching 24V ปกติ</a:t>
            </a:r>
          </a:p>
          <a:p>
            <a:pPr>
              <a:spcAft>
                <a:spcPts val="300"/>
              </a:spcAft>
              <a:defRPr sz="919">
                <a:solidFill>
                  <a:srgbClr val="0F172A"/>
                </a:solidFill>
              </a:defRPr>
            </a:pPr>
            <a:r>
              <a:t>❷ การ์ดตรวจวัด 4 ค่าหลัก: อุณหภูมิน้ำ (ATC), pH (Glass Probe), TDS (ppm), Cl (mg/L)</a:t>
            </a:r>
          </a:p>
          <a:p>
            <a:pPr>
              <a:spcAft>
                <a:spcPts val="300"/>
              </a:spcAft>
              <a:defRPr sz="919">
                <a:solidFill>
                  <a:srgbClr val="0F172A"/>
                </a:solidFill>
              </a:defRPr>
            </a:pPr>
            <a:r>
              <a:t>❸ กราฟแนวโน้ม Real-Time: พล็อตข้อมูลสด 1 วินาที ติดตามค่าน้ำ 24 ชม. พร้อมซูมดูย้อนหลัง</a:t>
            </a:r>
          </a:p>
          <a:p>
            <a:pPr>
              <a:spcAft>
                <a:spcPts val="300"/>
              </a:spcAft>
              <a:defRPr sz="919">
                <a:solidFill>
                  <a:srgbClr val="0F172A"/>
                </a:solidFill>
              </a:defRPr>
            </a:pPr>
            <a:r>
              <a:t>❹ ผูกสิทธิ์รองรับสูงสุด 100 จุด: ระบบจัดการโหนดกลางรองรับได้ถึง 100 สถานีในแพ็กเกจเดียว</a:t>
            </a:r>
          </a:p>
          <a:p>
            <a:pPr>
              <a:spcAft>
                <a:spcPts val="300"/>
              </a:spcAft>
              <a:defRPr sz="919">
                <a:solidFill>
                  <a:srgbClr val="0F172A"/>
                </a:solidFill>
              </a:defRPr>
            </a:pPr>
            <a:r>
              <a:t>❺ Digital Calibration: สอบเทียบหัววัด pH 7.00 / 4.01 ผ่านหน้าเว็บในคลิกเดียว</a:t>
            </a:r>
          </a:p>
          <a:p>
            <a:pPr>
              <a:spcAft>
                <a:spcPts val="300"/>
              </a:spcAft>
              <a:defRPr sz="919">
                <a:solidFill>
                  <a:srgbClr val="0F172A"/>
                </a:solidFill>
              </a:defRPr>
            </a:pPr>
            <a:r>
              <a:t>❻ ส่งออกรายงาน: Export ข้อมูลเป็น Excel / PDF สำหรับรายงาน ISO ทันที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284C7"/>
                </a:solidFill>
              </a:defRPr>
            </a:pPr>
            <a:r>
              <a:t>NCT PROSPERA TECH SOLUTIONS CO., LTD. • WATER QUALITY MONITORING</a:t>
            </a:r>
          </a:p>
          <a:p>
            <a:pPr>
              <a:defRPr sz="2200" b="1">
                <a:solidFill>
                  <a:srgbClr val="0F172A"/>
                </a:solidFill>
              </a:defRPr>
            </a:pPr>
            <a:r>
              <a:t>3. ภาพแคปหน้าจอแอปมือถือจริงครบทุกแท็บเมนู (Modela Mobile Multi-Screen)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246888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ob_screen_1_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600200"/>
            <a:ext cx="2194560" cy="37490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5440680"/>
            <a:ext cx="228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50" b="1">
                <a:solidFill>
                  <a:srgbClr val="0F172A"/>
                </a:solidFill>
              </a:defRPr>
            </a:pPr>
            <a:r>
              <a:t>1. หน้าแดชบอร์ดหลัก (Home)</a:t>
            </a:r>
          </a:p>
          <a:p>
            <a:pPr algn="ctr">
              <a:defRPr sz="780">
                <a:solidFill>
                  <a:srgbClr val="64748B"/>
                </a:solidFill>
              </a:defRPr>
            </a:pPr>
            <a:r>
              <a:t>Hero pH, Cl, Temp, TDS, Power 24V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0" y="1463040"/>
            <a:ext cx="246888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mob_screen_2_histo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11880" y="1600200"/>
            <a:ext cx="2194560" cy="374903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566160" y="5440680"/>
            <a:ext cx="228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50" b="1">
                <a:solidFill>
                  <a:srgbClr val="0F172A"/>
                </a:solidFill>
              </a:defRPr>
            </a:pPr>
            <a:r>
              <a:t>2. กราฟย้อนหลัง (History)</a:t>
            </a:r>
          </a:p>
          <a:p>
            <a:pPr algn="ctr">
              <a:defRPr sz="780">
                <a:solidFill>
                  <a:srgbClr val="64748B"/>
                </a:solidFill>
              </a:defRPr>
            </a:pPr>
            <a:r>
              <a:t>กราฟแนวโน้มสด &amp; ตารางสถิติ Avg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463040"/>
            <a:ext cx="246888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mob_screen_3_device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5080" y="1600200"/>
            <a:ext cx="2194560" cy="3749039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309360" y="5440680"/>
            <a:ext cx="228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50" b="1">
                <a:solidFill>
                  <a:srgbClr val="0F172A"/>
                </a:solidFill>
              </a:defRPr>
            </a:pPr>
            <a:r>
              <a:t>3. รวมสถานีทั้งหมด (Devices)</a:t>
            </a:r>
          </a:p>
          <a:p>
            <a:pPr algn="ctr">
              <a:defRPr sz="780">
                <a:solidFill>
                  <a:srgbClr val="64748B"/>
                </a:solidFill>
              </a:defRPr>
            </a:pPr>
            <a:r>
              <a:t>สลับดูสถานี #01 ถึง #100 Online/Alert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61120" y="1463040"/>
            <a:ext cx="246888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mob_screen_4_cali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98280" y="1600200"/>
            <a:ext cx="2194560" cy="3749039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052560" y="5440680"/>
            <a:ext cx="228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50" b="1">
                <a:solidFill>
                  <a:srgbClr val="0F172A"/>
                </a:solidFill>
              </a:defRPr>
            </a:pPr>
            <a:r>
              <a:t>4. สอบเทียบหัววัด (Calib)</a:t>
            </a:r>
          </a:p>
          <a:p>
            <a:pPr algn="ctr">
              <a:defRPr sz="780">
                <a:solidFill>
                  <a:srgbClr val="64748B"/>
                </a:solidFill>
              </a:defRPr>
            </a:pPr>
            <a:r>
              <a:t>pH 7.00, pH 4.01, TDS &amp; Cl Zero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284C7"/>
                </a:solidFill>
              </a:defRPr>
            </a:pPr>
            <a:r>
              <a:t>NCT PROSPERA TECH SOLUTIONS CO., LTD. • WATER QUALITY MONITORING</a:t>
            </a:r>
          </a:p>
          <a:p>
            <a:pPr>
              <a:defRPr sz="2200" b="1">
                <a:solidFill>
                  <a:srgbClr val="0F172A"/>
                </a:solidFill>
              </a:defRPr>
            </a:pPr>
            <a:r>
              <a:t>4. ตัวอย่างข้อความแจ้งเตือนเมื่อพบค่าผิดปกติ (Telegram vs LINE OA)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512064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691640"/>
            <a:ext cx="45720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284C7"/>
                </a:solidFill>
              </a:defRPr>
            </a:pPr>
            <a:r>
              <a:t>✈️ รูปแบบ Telegram Alert (ส่งฟรี &amp; ไวมาก)</a:t>
            </a:r>
          </a:p>
          <a:p>
            <a:pPr>
              <a:spcAft>
                <a:spcPts val="1000"/>
              </a:spcAft>
              <a:defRPr sz="1050">
                <a:solidFill>
                  <a:srgbClr val="0F172A"/>
                </a:solidFill>
              </a:defRPr>
            </a:pPr>
            <a:r>
              <a:t>🚨 แจ้งเตือนคุณภาพน้ำผิดปกติ</a:t>
            </a:r>
            <a:br/>
            <a:r>
              <a:t>📍 จุดติดตั้ง: บ่อพักน้ำ #04 (ตู้ 1004)</a:t>
            </a:r>
            <a:br/>
            <a:r>
              <a:t>⏰ เวลา: 14:15 น.</a:t>
            </a:r>
            <a:br/>
            <a:r>
              <a:t>━━━━━━━━━━━━━━━━━━━━</a:t>
            </a:r>
            <a:br/>
            <a:r>
              <a:t>• คลอรีน: 0.15 mg/L ❌ (เกณฑ์ 0.20-2.00)</a:t>
            </a:r>
            <a:br/>
            <a:r>
              <a:t>• pH: 6.4 ❌ (เกณฑ์ 6.5-8.5)</a:t>
            </a:r>
            <a:br/>
            <a:r>
              <a:t>• TDS: 185 ppm (ปกติ)</a:t>
            </a:r>
            <a:br/>
            <a:r>
              <a:t>• อุณหภูมิ: 28.5 °C (ปกติ)</a:t>
            </a:r>
            <a:br/>
            <a:r>
              <a:t>━━━━━━━━━━━━━━━━━━━━</a:t>
            </a:r>
            <a:br/>
            <a:r>
              <a:t>🔗 ดูกราฟย้อนหลัง: https://water-iot.com/node/1004</a:t>
            </a:r>
          </a:p>
          <a:p>
            <a:pPr>
              <a:defRPr sz="950" b="1">
                <a:solidFill>
                  <a:srgbClr val="059669"/>
                </a:solidFill>
              </a:defRPr>
            </a:pPr>
            <a:r>
              <a:t>✔ จุดเด่น: ส่งฟรี 100% ไม่มีค่า Broadcast รายเดือน ประหยัดงบประมาณสูงสุด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09360" y="1463040"/>
            <a:ext cx="512064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0" y="1691640"/>
            <a:ext cx="45720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59669"/>
                </a:solidFill>
              </a:defRPr>
            </a:pPr>
            <a:r>
              <a:t>💬 รูปแบบ LINE OA Alert (การ์ดสถานะในกลุ่มไลน์)</a:t>
            </a:r>
          </a:p>
          <a:p>
            <a:pPr>
              <a:spcAft>
                <a:spcPts val="1000"/>
              </a:spcAft>
              <a:defRPr sz="1050">
                <a:solidFill>
                  <a:srgbClr val="0F172A"/>
                </a:solidFill>
              </a:defRPr>
            </a:pPr>
            <a:r>
              <a:t>🚨 [CRITICAL] คุณภาพน้ำหลุดเกณฑ์</a:t>
            </a:r>
            <a:br/>
            <a:r>
              <a:t>📍 สถานี: บ่อจ่ายน้ำเขตเหนือ</a:t>
            </a:r>
            <a:br/>
            <a:r>
              <a:t>━━━━━━━━━━━━━━━━━━━━</a:t>
            </a:r>
            <a:br/>
            <a:r>
              <a:t>• คลอรีน: 0.12 mg/L ⚠️ (ต่ำกว่าเกณฑ์)</a:t>
            </a:r>
            <a:br/>
            <a:r>
              <a:t>• ค่า pH: 6.30 ⚠️ (ต่ำกว่าเกณฑ์)</a:t>
            </a:r>
            <a:br/>
            <a:r>
              <a:t>• ค่า TDS: 190 ppm (ปกติ)</a:t>
            </a:r>
            <a:br/>
            <a:r>
              <a:t>• อุณหภูมิ: 29.0 °C (ปกติ)</a:t>
            </a:r>
            <a:br/>
            <a:r>
              <a:t>━━━━━━━━━━━━━━━━━━━━</a:t>
            </a:r>
            <a:br/>
            <a:r>
              <a:t>👉 [เปิด Dashboard ดูข้อมูลสด]</a:t>
            </a:r>
          </a:p>
          <a:p>
            <a:pPr>
              <a:defRPr sz="950" b="1">
                <a:solidFill>
                  <a:srgbClr val="0284C7"/>
                </a:solidFill>
              </a:defRPr>
            </a:pPr>
            <a:r>
              <a:t>✔ จุดเด่น: แจ้งเตือนเป็นการ์ดสถานะในกลุ่ม LINE สะดวกสำหรับผู้บริหาร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284C7"/>
                </a:solidFill>
              </a:defRPr>
            </a:pPr>
            <a:r>
              <a:t>NCT PROSPERA TECH SOLUTIONS CO., LTD. • WATER QUALITY MONITORING</a:t>
            </a:r>
          </a:p>
          <a:p>
            <a:pPr>
              <a:defRPr sz="2200" b="1">
                <a:solidFill>
                  <a:srgbClr val="0F172A"/>
                </a:solidFill>
              </a:defRPr>
            </a:pPr>
            <a:r>
              <a:t>5. รายการอุปกรณ์ฮาร์ดแวร์ตู้คอนโทรลมาตรฐานต่อชุด (Hardware Specs)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2468880" cy="3291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2468880" cy="1097280"/>
          </a:xfrm>
          <a:prstGeom prst="round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8" y="1536192"/>
            <a:ext cx="2249424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FFFFFF"/>
                </a:solidFill>
              </a:defRPr>
            </a:pPr>
            <a:r>
              <a:t>ชุดเซนเซอร์หลัก (Modela One + 4 ค่า)</a:t>
            </a:r>
          </a:p>
          <a:p>
            <a:pPr>
              <a:defRPr sz="1400" b="1">
                <a:solidFill>
                  <a:srgbClr val="FFFFFF"/>
                </a:solidFill>
              </a:defRPr>
            </a:pPr>
            <a:r>
              <a:t>Modbus RTU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2651760"/>
            <a:ext cx="2249424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80">
                <a:solidFill>
                  <a:srgbClr val="64748B"/>
                </a:solidFill>
              </a:defRPr>
            </a:pPr>
            <a:r>
              <a:t>• บอร์ดควบคุมหลัก Modela One (RS-485)</a:t>
            </a:r>
            <a:br/>
            <a:r>
              <a:t>• หัววัด pH แก้วอุตสาหกรรม (±0.01 pH)</a:t>
            </a:r>
            <a:br/>
            <a:r>
              <a:t>• หัววัด TDS Titanium Dual-Pole</a:t>
            </a:r>
            <a:br/>
            <a:r>
              <a:t>• หัววัดอุณหภูมิ PT1000 RTD (ATC)</a:t>
            </a:r>
            <a:br/>
            <a:r>
              <a:t>• เซนเซอร์คลอรีนคงเหลือ Cybertice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0" y="1463040"/>
            <a:ext cx="2468880" cy="3291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474720" y="1463040"/>
            <a:ext cx="2468880" cy="1097280"/>
          </a:xfrm>
          <a:prstGeom prst="round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84448" y="1536192"/>
            <a:ext cx="2249424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FFFFFF"/>
                </a:solidFill>
              </a:defRPr>
            </a:pPr>
            <a:r>
              <a:t>4G LTE Router (TP-Link TL-MR100)</a:t>
            </a:r>
          </a:p>
          <a:p>
            <a:pPr>
              <a:defRPr sz="1400" b="1">
                <a:solidFill>
                  <a:srgbClr val="FFFFFF"/>
                </a:solidFill>
              </a:defRPr>
            </a:pPr>
            <a:r>
              <a:t>300 Mbps Wi-Fi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84448" y="2651760"/>
            <a:ext cx="2249424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80">
                <a:solidFill>
                  <a:srgbClr val="64748B"/>
                </a:solidFill>
              </a:defRPr>
            </a:pPr>
            <a:r>
              <a:t>• เราเตอร์ 4G LTE Wi-Fi ความเร็ว 300 Mbps</a:t>
            </a:r>
            <a:br/>
            <a:r>
              <a:t>• เสารับสัญญาณภายนอก 2 เสา สัญญาณนิ่งเสถียร</a:t>
            </a:r>
            <a:br/>
            <a:r>
              <a:t>• (สำหรับรุ่น 4.1 เท่านั้น)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463040"/>
            <a:ext cx="2468880" cy="3291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17920" y="1463040"/>
            <a:ext cx="2468880" cy="1097280"/>
          </a:xfrm>
          <a:prstGeom prst="round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27648" y="1536192"/>
            <a:ext cx="2249424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FFFFFF"/>
                </a:solidFill>
              </a:defRPr>
            </a:pPr>
            <a:r>
              <a:t>ซิมการ์ด 4G IoT (Unlimited)</a:t>
            </a:r>
          </a:p>
          <a:p>
            <a:pPr>
              <a:defRPr sz="1400" b="1">
                <a:solidFill>
                  <a:srgbClr val="FFFFFF"/>
                </a:solidFill>
              </a:defRPr>
            </a:pPr>
            <a:r>
              <a:t>ฟรีเฉพาะปีแรก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27648" y="2651760"/>
            <a:ext cx="2249424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80">
                <a:solidFill>
                  <a:srgbClr val="64748B"/>
                </a:solidFill>
              </a:defRPr>
            </a:pPr>
            <a:r>
              <a:t>• ซิมเน็ต IoT รายปี ไม่อั้น ไม่ลดสปีด</a:t>
            </a:r>
            <a:br/>
            <a:r>
              <a:t>• รวมค่าบริการเครือข่าย 12 เดือนแรก</a:t>
            </a:r>
            <a:br/>
            <a:r>
              <a:t>• ปีที่ 2 ลูกค้ารับผิดชอบค่าเน็ตเอง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61120" y="1463040"/>
            <a:ext cx="2468880" cy="3291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961120" y="1463040"/>
            <a:ext cx="2468880" cy="109728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70848" y="1536192"/>
            <a:ext cx="2249424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FFFFFF"/>
                </a:solidFill>
              </a:defRPr>
            </a:pPr>
            <a:r>
              <a:t>ตู้คอนโทรล IP65 + Switching 24V</a:t>
            </a:r>
          </a:p>
          <a:p>
            <a:pPr>
              <a:defRPr sz="1400" b="1">
                <a:solidFill>
                  <a:srgbClr val="FFFFFF"/>
                </a:solidFill>
              </a:defRPr>
            </a:pPr>
            <a:r>
              <a:t>IP65 Waterproof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70848" y="2651760"/>
            <a:ext cx="2249424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80">
                <a:solidFill>
                  <a:srgbClr val="64748B"/>
                </a:solidFill>
              </a:defRPr>
            </a:pPr>
            <a:r>
              <a:t>• ตู้กันน้ำกันฝุ่นมาตรฐาน IP65</a:t>
            </a:r>
            <a:br/>
            <a:r>
              <a:t>• แหล่งจ่ายไฟ Switching Power Supply 24V</a:t>
            </a:r>
            <a:br/>
            <a:r>
              <a:t>• Breaker ป้องกันไฟเกิน + Terminal + Wiring ครบ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4937760"/>
            <a:ext cx="10728655" cy="137160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5074920"/>
            <a:ext cx="10149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500" b="1">
                <a:solidFill>
                  <a:srgbClr val="2DD4BF"/>
                </a:solidFill>
              </a:defRPr>
            </a:pPr>
            <a:r>
              <a:t>➡️ ทางเลือกการสื่อสาร: รุ่น 4G LTE (มีเราเตอร์+ซิม) vs รุ่น Wi-Fi (ตัดเราเตอร์และซิมออก ประหยัด ฿4,000/ชุด)</a:t>
            </a:r>
          </a:p>
          <a:p>
            <a:pPr>
              <a:defRPr sz="1000">
                <a:solidFill>
                  <a:srgbClr val="E2E8F0"/>
                </a:solidFill>
              </a:defRPr>
            </a:pPr>
            <a:r>
              <a:t>อุปกรณ์ประกอบสำเร็จรูป ตรวจสอบระบบไฟฟ้า และทดสอบออนไลน์ 100% ก่อนส่งมอบหน้างาน | รุ่น Wi-Fi ต่อเน็ตโรงงานโดยตรง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284C7"/>
                </a:solidFill>
              </a:defRPr>
            </a:pPr>
            <a:r>
              <a:t>NCT PROSPERA TECH SOLUTIONS CO., LTD. • WATER QUALITY MONITORING</a:t>
            </a:r>
          </a:p>
          <a:p>
            <a:pPr>
              <a:defRPr sz="2200" b="1">
                <a:solidFill>
                  <a:srgbClr val="0F172A"/>
                </a:solidFill>
              </a:defRPr>
            </a:pPr>
            <a:r>
              <a:t>6. ใบเสนอราคาทางการ (เปรียบเทียบรุ่น 4G LTE vs รุ่น Wi-Fi)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512064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5120640" cy="1005840"/>
          </a:xfrm>
          <a:prstGeom prst="round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4754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FFFF"/>
                </a:solidFill>
              </a:defRPr>
            </a:pPr>
            <a:r>
              <a:t>4.1 รุ่น 4G LTE Plug &amp; Play</a:t>
            </a:r>
          </a:p>
          <a:p>
            <a:pPr>
              <a:defRPr sz="1100" b="1">
                <a:solidFill>
                  <a:srgbClr val="FFFFFF"/>
                </a:solidFill>
              </a:defRPr>
            </a:pPr>
            <a:r>
              <a:t>฿36,000 บาท / ชุด  (สั่งซื้อเดี่ยว: ฿39,500 บาท/ชุด)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56032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200"/>
              </a:spcAft>
              <a:defRPr sz="850">
                <a:solidFill>
                  <a:srgbClr val="0F172A"/>
                </a:solidFill>
              </a:defRPr>
            </a:pPr>
            <a:r>
              <a:t>✔ ตู้ IP65 + Switching 24V + Modela One + 4 เซนเซอร์</a:t>
            </a:r>
          </a:p>
          <a:p>
            <a:pPr>
              <a:spcAft>
                <a:spcPts val="200"/>
              </a:spcAft>
              <a:defRPr sz="850">
                <a:solidFill>
                  <a:srgbClr val="0F172A"/>
                </a:solidFill>
              </a:defRPr>
            </a:pPr>
            <a:r>
              <a:t>✔ เราเตอร์ 4G LTE อุตสาหกรรม (TP-Link TL-MR100)</a:t>
            </a:r>
          </a:p>
          <a:p>
            <a:pPr>
              <a:spcAft>
                <a:spcPts val="200"/>
              </a:spcAft>
              <a:defRPr sz="850">
                <a:solidFill>
                  <a:srgbClr val="0F172A"/>
                </a:solidFill>
              </a:defRPr>
            </a:pPr>
            <a:r>
              <a:t>✔ ซิมเน็ต IoT 4G Unlimited Data (ฟรีเฉพาะปีแรก)</a:t>
            </a:r>
          </a:p>
          <a:p>
            <a:pPr>
              <a:spcAft>
                <a:spcPts val="200"/>
              </a:spcAft>
              <a:defRPr sz="850">
                <a:solidFill>
                  <a:srgbClr val="0F172A"/>
                </a:solidFill>
              </a:defRPr>
            </a:pPr>
            <a:r>
              <a:t>✔ รวมระบบ Web Dashboard &amp; App รองรับ 100 จุด (Admin 5 / Viewers 100 ฟรี 1 ปี)</a:t>
            </a:r>
          </a:p>
          <a:p>
            <a:pPr>
              <a:spcAft>
                <a:spcPts val="200"/>
              </a:spcAft>
              <a:defRPr sz="850">
                <a:solidFill>
                  <a:srgbClr val="0F172A"/>
                </a:solidFill>
              </a:defRPr>
            </a:pPr>
            <a:r>
              <a:t>✔ แจ้งเตือนอัตโนมัติ 24 ชม. ผ่าน Telegram (ฟรี) &amp; LINE OA</a:t>
            </a:r>
          </a:p>
          <a:p>
            <a:pPr>
              <a:spcAft>
                <a:spcPts val="200"/>
              </a:spcAft>
              <a:defRPr sz="850">
                <a:solidFill>
                  <a:srgbClr val="0F172A"/>
                </a:solidFill>
              </a:defRPr>
            </a:pPr>
            <a:r>
              <a:t>✔ จัดส่งสำเร็จรูปพร้อมคู่มือ (ลูกค้าติดตั้งเอง) ประกัน 1 ปี</a:t>
            </a:r>
          </a:p>
          <a:p>
            <a:pPr>
              <a:spcAft>
                <a:spcPts val="200"/>
              </a:spcAft>
              <a:defRPr sz="850" b="1">
                <a:solidFill>
                  <a:srgbClr val="0284C7"/>
                </a:solidFill>
              </a:defRPr>
            </a:pPr>
            <a:r>
              <a:t>✔ ★ ปีที่ 2: ค่าบริการ Cloud MA เดือนละ 300 บ./จุด (3,600 บ./จุด/ปี หรือ 360k/ปี สำหรับ 100 จุด) • เน็ตฟรีแค่ปีแรก ปีถัดไปลูกค้าดูแลค่าซิมเอง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463040"/>
            <a:ext cx="512064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309360" y="1463040"/>
            <a:ext cx="5120640" cy="1005840"/>
          </a:xfrm>
          <a:prstGeom prst="round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554480"/>
            <a:ext cx="4754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FFFF"/>
                </a:solidFill>
              </a:defRPr>
            </a:pPr>
            <a:r>
              <a:t>4.2 รุ่น Wi-Fi (ตัดเราเตอร์และซิมออก)</a:t>
            </a:r>
          </a:p>
          <a:p>
            <a:pPr>
              <a:defRPr sz="1100" b="1">
                <a:solidFill>
                  <a:srgbClr val="FFFFFF"/>
                </a:solidFill>
              </a:defRPr>
            </a:pPr>
            <a:r>
              <a:t>฿32,000 บาท / ชุด  (สั่งซื้อเดี่ยว: ฿35,500 บาท/ชุด)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56032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200"/>
              </a:spcAft>
              <a:defRPr sz="850">
                <a:solidFill>
                  <a:srgbClr val="0F172A"/>
                </a:solidFill>
              </a:defRPr>
            </a:pPr>
            <a:r>
              <a:t>✔ ตู้ IP65 + Switching 24V + Modela One + 4 เซนเซอร์</a:t>
            </a:r>
          </a:p>
          <a:p>
            <a:pPr>
              <a:spcAft>
                <a:spcPts val="200"/>
              </a:spcAft>
              <a:defRPr sz="850">
                <a:solidFill>
                  <a:srgbClr val="0F172A"/>
                </a:solidFill>
              </a:defRPr>
            </a:pPr>
            <a:r>
              <a:t>✔ ตัดเราเตอร์ 4G LTE และซิมการ์ดออก (ประหยัดทันที ฿4,000)</a:t>
            </a:r>
          </a:p>
          <a:p>
            <a:pPr>
              <a:spcAft>
                <a:spcPts val="200"/>
              </a:spcAft>
              <a:defRPr sz="850">
                <a:solidFill>
                  <a:srgbClr val="0F172A"/>
                </a:solidFill>
              </a:defRPr>
            </a:pPr>
            <a:r>
              <a:t>✔ เชื่อมต่อสัญญาณ Wi-Fi 2.4 GHz หน้างานโดยตรง</a:t>
            </a:r>
          </a:p>
          <a:p>
            <a:pPr>
              <a:spcAft>
                <a:spcPts val="200"/>
              </a:spcAft>
              <a:defRPr sz="850">
                <a:solidFill>
                  <a:srgbClr val="0F172A"/>
                </a:solidFill>
              </a:defRPr>
            </a:pPr>
            <a:r>
              <a:t>✔ รวมระบบ Web Dashboard &amp; App รองรับ 100 จุด (Admin 5 / Viewers 100 ฟรี 1 ปี)</a:t>
            </a:r>
          </a:p>
          <a:p>
            <a:pPr>
              <a:spcAft>
                <a:spcPts val="200"/>
              </a:spcAft>
              <a:defRPr sz="850">
                <a:solidFill>
                  <a:srgbClr val="0F172A"/>
                </a:solidFill>
              </a:defRPr>
            </a:pPr>
            <a:r>
              <a:t>✔ แจ้งเตือนอัตโนมัติ 24 ชม. ผ่าน Telegram (ฟรี) &amp; LINE OA</a:t>
            </a:r>
          </a:p>
          <a:p>
            <a:pPr>
              <a:spcAft>
                <a:spcPts val="200"/>
              </a:spcAft>
              <a:defRPr sz="850">
                <a:solidFill>
                  <a:srgbClr val="0F172A"/>
                </a:solidFill>
              </a:defRPr>
            </a:pPr>
            <a:r>
              <a:t>✔ จัดส่งสำเร็จรูปพร้อมคู่มือ (ลูกค้าติดตั้งเอง) ประกัน 1 ปี</a:t>
            </a:r>
          </a:p>
          <a:p>
            <a:pPr>
              <a:spcAft>
                <a:spcPts val="200"/>
              </a:spcAft>
              <a:defRPr sz="850" b="1">
                <a:solidFill>
                  <a:srgbClr val="059669"/>
                </a:solidFill>
              </a:defRPr>
            </a:pPr>
            <a:r>
              <a:t>✔ ★ ปีที่ 2: ค่าบริการ Cloud MA เดือนละ 300 บ./จุด (3,600 บ./จุด/ปี หรือ 360k/ปี สำหรับ 100 จุด) • ไม่มีภาระค่าบริการซิม 4G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731520"/>
            <a:ext cx="10728655" cy="53949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80160" y="1188720"/>
            <a:ext cx="96012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2DD4BF"/>
                </a:solidFill>
              </a:defRPr>
            </a:pPr>
            <a:r>
              <a:t>💧 สรุปภาพรวมข้อเสนอราคาทางการ</a:t>
            </a:r>
          </a:p>
          <a:p>
            <a:pPr>
              <a:spcAft>
                <a:spcPts val="800"/>
              </a:spcAft>
              <a:defRPr sz="3000" b="1">
                <a:solidFill>
                  <a:srgbClr val="FFFFFF"/>
                </a:solidFill>
              </a:defRPr>
            </a:pPr>
            <a:r>
              <a:t>NCT WATER NEXUS PRO</a:t>
            </a:r>
          </a:p>
          <a:p>
            <a:pPr>
              <a:spcAft>
                <a:spcPts val="1600"/>
              </a:spcAft>
              <a:defRPr sz="1350">
                <a:solidFill>
                  <a:srgbClr val="CBD5E1"/>
                </a:solidFill>
              </a:defRPr>
            </a:pPr>
            <a:r>
              <a:t>NCT PROSPERA TECH SOLUTIONS CO., LTD.</a:t>
            </a:r>
          </a:p>
          <a:p>
            <a:pPr>
              <a:spcAft>
                <a:spcPts val="2400"/>
              </a:spcAft>
              <a:defRPr sz="1080">
                <a:solidFill>
                  <a:srgbClr val="E2E8F0"/>
                </a:solidFill>
              </a:defRPr>
            </a:pPr>
            <a:r>
              <a:t>• 4.1 รุ่น 4G LTE Plug &amp; Play: ฿36,000 บาท/ชุด (สั่งเดี่ยว ฿39,500) มีเราเตอร์ + ซิม Unlimited ฟรีปีแรก</a:t>
            </a:r>
            <a:br/>
            <a:r>
              <a:t>• 4.2 รุ่น Wi-Fi Direct: ฿32,000 บาท/ชุด (สั่งเดี่ยว ฿35,500) ตัดเราเตอร์และซิมออก ประหยัดทันที ฿4,000/ชุด</a:t>
            </a:r>
            <a:br/>
            <a:r>
              <a:t>• สิทธิ์การใช้งานระบบ: รองรับ Admin 5 บัญชี และ Viewers 100 บัญชี</a:t>
            </a:r>
            <a:br/>
            <a:r>
              <a:t>• ปีที่ 2 เป็นต้นไป: ค่าบริการ Cloud Server License &amp; Software MA เดือนละ 300 บาท/จุด (เน็ตฟรีแค่ปีแรก)</a:t>
            </a:r>
            <a:br/>
            <a:r>
              <a:t>• เงื่อนไขขยายเกิน 100 จุด: คิดค่าบริหารจัดการระบบและขยาย Server โหนดเพิ่มเติมตามขนาดโครงการ</a:t>
            </a:r>
            <a:br/>
            <a:r>
              <a:t>• บริการเสริมติดตั้ง &amp; สอบเทียบหน้างาน (Add-on): +฿8,000 บาท/จุด</a:t>
            </a:r>
          </a:p>
          <a:p>
            <a:pPr>
              <a:defRPr sz="1200" b="1">
                <a:solidFill>
                  <a:srgbClr val="2DD4BF"/>
                </a:solidFill>
              </a:defRPr>
            </a:pPr>
            <a:r>
              <a:t>📞 สนใจสอบถามข้อมูลเพิ่มเติมและขอใบเสนอราคา (Request for Quotation):</a:t>
            </a:r>
            <a:br/>
            <a:r>
              <a:t>• Email: sales@nct-water.com  |  Tel: 02-XXX-XXXX, 08X-XXX-XXXX  |  Line: @nctwater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