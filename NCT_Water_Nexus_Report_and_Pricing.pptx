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1280160"/>
            <a:ext cx="9601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2DD4BF"/>
                </a:solidFill>
              </a:defRPr>
            </a:pPr>
            <a:r>
              <a:t>💧 INDUSTRIAL IOT &amp; SCADA WATER MONITORING</a:t>
            </a:r>
          </a:p>
          <a:p>
            <a:pPr>
              <a:spcAft>
                <a:spcPts val="800"/>
              </a:spcAft>
              <a:defRPr sz="3800" b="1">
                <a:solidFill>
                  <a:srgbClr val="FFFFFF"/>
                </a:solidFill>
              </a:defRPr>
            </a:pPr>
            <a:r>
              <a:t>NCT WATER NEXUS PRO</a:t>
            </a:r>
          </a:p>
          <a:p>
            <a:pPr>
              <a:spcAft>
                <a:spcPts val="2400"/>
              </a:spcAft>
              <a:defRPr sz="1800">
                <a:solidFill>
                  <a:srgbClr val="CBD5E1"/>
                </a:solidFill>
              </a:defRPr>
            </a:pPr>
            <a:r>
              <a:t>Smart Water Quality Intelligence, Real-Time IoT Telemetry &amp; Analytics Platform</a:t>
            </a:r>
          </a:p>
          <a:p>
            <a:pPr>
              <a:spcAft>
                <a:spcPts val="3600"/>
              </a:spcAft>
              <a:defRPr sz="1300">
                <a:solidFill>
                  <a:srgbClr val="94A3B8"/>
                </a:solidFill>
              </a:defRPr>
            </a:pPr>
            <a:r>
              <a:t>ระบบตรวจวัดและติดตามคุณภาพน้ำแบบ Real-Time ตลอด 24 ชม. | แดชบอร์ด SCADA &amp; Mobile App | รายงานข้อเสนอราคาและแพ็กเกจการติดตั้ง (Commercial Proposal)</a:t>
            </a:r>
          </a:p>
          <a:p>
            <a:pPr>
              <a:defRPr sz="1100">
                <a:solidFill>
                  <a:srgbClr val="2DD4BF"/>
                </a:solidFill>
              </a:defRPr>
            </a:pPr>
            <a:r>
              <a:t>NCT Water Solutions  •  System Version 2.5 Pro  • 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NCT WATER NEXUS PRO | SMART WATER MONITORING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ภาพรวมระบบและปัญหาที่แก้ไข (Executive Summary &amp; Key Challenges)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73736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 b="1">
                <a:solidFill>
                  <a:srgbClr val="E11D48"/>
                </a:solidFill>
              </a:defRPr>
            </a:pPr>
            <a:r>
              <a:t>❌ ปัญหาเดิมในการดูแลระบบน้ำ (Traditional Monitoring)</a:t>
            </a:r>
          </a:p>
          <a:p>
            <a:pPr>
              <a:defRPr b="1" sz="1200">
                <a:solidFill>
                  <a:srgbClr val="0F172A"/>
                </a:solidFill>
              </a:defRPr>
            </a:pPr>
            <a:r>
              <a:t>• ความล่าช้าในการตรวจวัด (Manual Sampling):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</a:defRPr>
            </a:pPr>
            <a:r>
              <a:t>  ตรวจแบบเดินตักน้ำเพียง 1-2 ครั้ง/วัน ไม่สามารถตรวจจับสภาวะน้ำหลุดเกณฑ์ที่เกิดขึ้นฉับพลันได้</a:t>
            </a:r>
          </a:p>
          <a:p>
            <a:pPr>
              <a:defRPr b="1" sz="1200">
                <a:solidFill>
                  <a:srgbClr val="0F172A"/>
                </a:solidFill>
              </a:defRPr>
            </a:pPr>
            <a:r>
              <a:t>• ความเสี่ยงต่อคุณภาพสินค้าและกระบวนการผลิต: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</a:defRPr>
            </a:pPr>
            <a:r>
              <a:t>  หากค่าน้ำผิดปกติระหว่างรอบตรวจ อาจทำให้เกิดความเสียหายต่อระบบท่อ เครื่องจักร หรือผลิตภัณฑ์</a:t>
            </a:r>
          </a:p>
          <a:p>
            <a:pPr>
              <a:defRPr b="1" sz="1200">
                <a:solidFill>
                  <a:srgbClr val="0F172A"/>
                </a:solidFill>
              </a:defRPr>
            </a:pPr>
            <a:r>
              <a:t>• ขาดข้อมูลบันทึกประวัติแบบต่อเนื่อง (No Real-Time Logs):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</a:defRPr>
            </a:pPr>
            <a:r>
              <a:t>  การจดบันทึกลงสมุดกระดาษมีความผิดพลาดง่าย ข้อมูลสูญหาย และไม่สามารถนำมาวิเคราะห์เชิงสถิติได้</a:t>
            </a:r>
          </a:p>
          <a:p>
            <a:pPr>
              <a:defRPr b="1" sz="1200">
                <a:solidFill>
                  <a:srgbClr val="0F172A"/>
                </a:solidFill>
              </a:defRPr>
            </a:pPr>
            <a:r>
              <a:t>• ไม่สามารถแจ้งเตือนเหตุฉุกเฉินได้ทันท่วงที: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</a:defRPr>
            </a:pPr>
            <a:r>
              <a:t>  เมื่อเกิดเหตุสารปนเปื้อนหรือค่า pH แกว่งตัวรุนแรง เจ้าหน้าที่ไม่ทราบจนกระทั่งเกิดความเสียหายแล้ว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73736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 b="1">
                <a:solidFill>
                  <a:srgbClr val="0284C7"/>
                </a:solidFill>
              </a:defRPr>
            </a:pPr>
            <a:r>
              <a:t>✅ โซลูชันอัจฉริยะ NCT WATER NEXUS PRO</a:t>
            </a:r>
          </a:p>
          <a:p>
            <a:pPr>
              <a:defRPr b="1" sz="1200">
                <a:solidFill>
                  <a:srgbClr val="059669"/>
                </a:solidFill>
              </a:defRPr>
            </a:pPr>
            <a:r>
              <a:t>✔ ตรวจวัดแบบ Real-Time 24/7 (Live Polling 1-Sec):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</a:defRPr>
            </a:pPr>
            <a:r>
              <a:t>  หัววัดอุตสาหกรรมวัดค่า pH, Temp, TDS, Residual Cl, ORP ส่งข้อมูลขึ้น Cloud ต่อเนื่องแบบวินาทีต่อวินาที</a:t>
            </a:r>
          </a:p>
          <a:p>
            <a:pPr>
              <a:defRPr b="1" sz="1200">
                <a:solidFill>
                  <a:srgbClr val="059669"/>
                </a:solidFill>
              </a:defRPr>
            </a:pPr>
            <a:r>
              <a:t>✔ ระบบแจ้งเตือนอัจฉริยะทันที (Instant Early Warnings):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</a:defRPr>
            </a:pPr>
            <a:r>
              <a:t>  แจ้งเตือนอัตโนมัติผ่าน Line Notify, SMS และหน้าจอ Dashboard ทันทีที่ค่าน้ำเริ่มแกว่งตัว</a:t>
            </a:r>
          </a:p>
          <a:p>
            <a:pPr>
              <a:defRPr b="1" sz="1200">
                <a:solidFill>
                  <a:srgbClr val="059669"/>
                </a:solidFill>
              </a:defRPr>
            </a:pPr>
            <a:r>
              <a:t>✔ แดชบอร์ดคู่ Web SCADA + Mobile Companion: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</a:defRPr>
            </a:pPr>
            <a:r>
              <a:t>  มอนิเตอร์และดูแนวโน้มได้ทุกที่ ทั้งบนคอมพิวเตอร์ห้องควบคุม (Control Room) และสมาร์ทโฟน</a:t>
            </a:r>
          </a:p>
          <a:p>
            <a:pPr>
              <a:defRPr b="1" sz="1200">
                <a:solidFill>
                  <a:srgbClr val="059669"/>
                </a:solidFill>
              </a:defRPr>
            </a:pPr>
            <a:r>
              <a:t>✔ บันทึกข้อมูลบน Cloud &amp; ออกรายงานอัตโนมัติ: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</a:defRPr>
            </a:pPr>
            <a:r>
              <a:t>  จัดเก็บข้อมูลย้อนหลังไม่จำกัด พร้อมส่งออกรายงานรับรองตามมาตรฐานกรมอนามัย/โรงงาน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NCT WATER NEXUS PRO | SMART WATER MONITORING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สเปกเซนเซอร์ตรวจวัดคุณภาพน้ำ (High-Precision Sensor Probes)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468880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21945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97706"/>
                </a:solidFill>
              </a:defRPr>
            </a:pPr>
            <a:r>
              <a:t>SENSOR 01</a:t>
            </a:r>
          </a:p>
          <a:p>
            <a:pPr>
              <a:spcAft>
                <a:spcPts val="400"/>
              </a:spcAft>
              <a:defRPr sz="1300" b="1">
                <a:solidFill>
                  <a:srgbClr val="0F172A"/>
                </a:solidFill>
              </a:defRPr>
            </a:pPr>
            <a:r>
              <a:t>อุณหภูมิน้ำ (Water Temp)</a:t>
            </a:r>
          </a:p>
          <a:p>
            <a:pPr>
              <a:spcAft>
                <a:spcPts val="600"/>
              </a:spcAft>
              <a:defRPr sz="1050" b="1">
                <a:solidFill>
                  <a:srgbClr val="D97706"/>
                </a:solidFill>
              </a:defRPr>
            </a:pPr>
            <a:r>
              <a:t>หัววัด: PT1000 Platinum RTD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ช่วงวัด: 0.0 - 50.0°C</a:t>
            </a:r>
            <a:br/>
            <a:r>
              <a:t>ความละเอียด: ±0.1°C</a:t>
            </a:r>
            <a:br/>
            <a:r>
              <a:t>ฟังก์ชัน: ระบบชดเชยอุณหภูมิอัตโนมัติ (ATC Compensation) เพื่อความเที่ยงตรงสูงสุดของค่า pH &amp; TDS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463040"/>
            <a:ext cx="2468880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11880" y="1600200"/>
            <a:ext cx="21945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SENSOR 02</a:t>
            </a:r>
          </a:p>
          <a:p>
            <a:pPr>
              <a:spcAft>
                <a:spcPts val="400"/>
              </a:spcAft>
              <a:defRPr sz="1300" b="1">
                <a:solidFill>
                  <a:srgbClr val="0F172A"/>
                </a:solidFill>
              </a:defRPr>
            </a:pPr>
            <a:r>
              <a:t>ความเป็นกรด-ด่าง (pH)</a:t>
            </a:r>
          </a:p>
          <a:p>
            <a:pPr>
              <a:spcAft>
                <a:spcPts val="600"/>
              </a:spcAft>
              <a:defRPr sz="1050" b="1">
                <a:solidFill>
                  <a:srgbClr val="0284C7"/>
                </a:solidFill>
              </a:defRPr>
            </a:pPr>
            <a:r>
              <a:t>หัววัด: Industrial Glass Electrode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ช่วงวัด: 0.00 - 14.00 pH</a:t>
            </a:r>
            <a:br/>
            <a:r>
              <a:t>ความแม่นยำ: ±0.01 pH</a:t>
            </a:r>
            <a:br/>
            <a:r>
              <a:t>เกณฑ์มาตรฐาน: 6.50 - 8.50 pH</a:t>
            </a:r>
            <a:br/>
            <a:r>
              <a:t>รองรับการสอบเทียบดิจิทัล (Buffer 4.01, 7.00, 10.01)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2468880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600200"/>
            <a:ext cx="21945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SENSOR 03</a:t>
            </a:r>
          </a:p>
          <a:p>
            <a:pPr>
              <a:spcAft>
                <a:spcPts val="400"/>
              </a:spcAft>
              <a:defRPr sz="1300" b="1">
                <a:solidFill>
                  <a:srgbClr val="0F172A"/>
                </a:solidFill>
              </a:defRPr>
            </a:pPr>
            <a:r>
              <a:t>สารละลายรวม (TDS / EC)</a:t>
            </a:r>
          </a:p>
          <a:p>
            <a:pPr>
              <a:spcAft>
                <a:spcPts val="600"/>
              </a:spcAft>
              <a:defRPr sz="1050" b="1">
                <a:solidFill>
                  <a:srgbClr val="059669"/>
                </a:solidFill>
              </a:defRPr>
            </a:pPr>
            <a:r>
              <a:t>หัววัด: Titanium Alloy 2-Pole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ช่วงวัด: 0 - 2,000 ppm (mg/L)</a:t>
            </a:r>
            <a:br/>
            <a:r>
              <a:t>ความแม่นยำ: ±2% F.S.</a:t>
            </a:r>
            <a:br/>
            <a:r>
              <a:t>เกณฑ์มาตรฐาน: &lt; 500 ppm</a:t>
            </a:r>
            <a:br/>
            <a:r>
              <a:t>ตรวจจับปริมาณสารแขวนลอยและแร่ธาตุในน้ำ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1463040"/>
            <a:ext cx="2468880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98280" y="1600200"/>
            <a:ext cx="21945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SENSOR 04</a:t>
            </a:r>
          </a:p>
          <a:p>
            <a:pPr>
              <a:spcAft>
                <a:spcPts val="400"/>
              </a:spcAft>
              <a:defRPr sz="1300" b="1">
                <a:solidFill>
                  <a:srgbClr val="0F172A"/>
                </a:solidFill>
              </a:defRPr>
            </a:pPr>
            <a:r>
              <a:t>คลอรีนคงเหลือ (Residual Cl)</a:t>
            </a:r>
          </a:p>
          <a:p>
            <a:pPr>
              <a:spcAft>
                <a:spcPts val="600"/>
              </a:spcAft>
              <a:defRPr sz="1050" b="1">
                <a:solidFill>
                  <a:srgbClr val="0284C7"/>
                </a:solidFill>
              </a:defRPr>
            </a:pPr>
            <a:r>
              <a:t>หัววัด: Amperometric Probe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ช่วงวัด: 0.00 - 5.00 mg/L (ppm)</a:t>
            </a:r>
            <a:br/>
            <a:r>
              <a:t>ความแม่นยำ: ±0.05 mg/L</a:t>
            </a:r>
            <a:br/>
            <a:r>
              <a:t>เกณฑ์มาตรฐาน: 0.20 - 2.00 mg/L</a:t>
            </a:r>
            <a:br/>
            <a:r>
              <a:t>ตรวจเช็คประสิทธิภาพการฆ่าเชื้อโรค 100%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663440"/>
            <a:ext cx="10728655" cy="16459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800600"/>
            <a:ext cx="10149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2DD4BF"/>
                </a:solidFill>
              </a:defRPr>
            </a:pPr>
            <a:r>
              <a:t>🎛️ SMART INDUSTRIAL CONTROLLER NODE &amp; TELEMETRY</a:t>
            </a:r>
          </a:p>
          <a:p>
            <a:pPr>
              <a:defRPr sz="1050">
                <a:solidFill>
                  <a:srgbClr val="E2E8F0"/>
                </a:solidFill>
              </a:defRPr>
            </a:pPr>
            <a:r>
              <a:t>• Telemetry Multi-Link: รองรับการส่งสัญญาณผ่าน WiFi 2.4GHz, 4G LTE Cellular และ Modbus RS-485 สู่ระบบ Cloud SCADA</a:t>
            </a:r>
            <a:br/>
            <a:r>
              <a:t>• ระบบสำรองไฟอัจฉริยะ (LiFePO4 Battery Backup): ใช้งานต่อเนื่องแม้ยามไฟดับ พร้อมระบบตรวจสอบระดับแบตเตอรี่ Real-time</a:t>
            </a:r>
            <a:br/>
            <a:r>
              <a:t>• Alarm Output Relay: พอร์ต Dry Contact สำหรับต่อไซเรนเตือนภัยภายนอก หรือส่งสัญญาณต่อไปยังระบบ PLC / SCADA เดิมของโรงงาน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NCT WATER NEXUS PRO | SMART WATER MONITORING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ระบบแดชบอร์ด SCADA และ Mobile Companion App (Software Platform)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9164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284C7"/>
                </a:solidFill>
              </a:defRPr>
            </a:pPr>
            <a:r>
              <a:t>💻 1. Desktop SCADA Widescreen Dashboard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Widescreen Plant Overview: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</a:defRPr>
            </a:pPr>
            <a:r>
              <a:t>  แดชบอร์ดขนาดใหญ่สำหรับห้องควบคุม (Control Room) แสดงสถานะและแนวโน้มชัดเจน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High-Frequency Telemetry Trends: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</a:defRPr>
            </a:pPr>
            <a:r>
              <a:t>  กราฟ Real-Time Dynamic Charts แบบ Multi-Axis วิเคราะห์ pH, Temp, TDS, Cl พร้อมกัน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Interactive Hardware Controls: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</a:defRPr>
            </a:pPr>
            <a:r>
              <a:t>  สวิตช์เปิด-ปิดไฟหน้าจอ ตรวจสอบสถานะการเชื่อมต่อ และทดสอบสัญญาณ Real-time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Automated Calibration Assistant: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</a:defRPr>
            </a:pPr>
            <a:r>
              <a:t>  ระบบช่วยเทียบมาตรฐานหัววัด pH (One-Click Digital Calibrate Buffer 7.00 / 4.01) ง่ายและแม่นยำ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69164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59669"/>
                </a:solidFill>
              </a:defRPr>
            </a:pPr>
            <a:r>
              <a:t>📱 2. Mobile Companion App (iOS &amp; Android)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Native Phone Experience: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</a:defRPr>
            </a:pPr>
            <a:r>
              <a:t>  ดีไซน์เฉพาะสำหรับสมาร์ทโฟน เช็คค่าน้ำได้สะดวกรวดเร็วตลอด 24 ชม. ทุกที่ทุกเวลา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Color-Coded Metric Cards: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</a:defRPr>
            </a:pPr>
            <a:r>
              <a:t>  การ์ดแสดงค่าแยกสีชัดเจน (Teal=pH, Amber=Temp, Green=TDS, Blue=Chlorine) อ่านค่าง่ายทันที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Real-Time Connection Topology: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</a:defRPr>
            </a:pPr>
            <a:r>
              <a:t>  แสดงสถานะการเชื่อมต่อแบบภาพ (WiFi ➔ Display ➔ Probe) พร้อมแจ้งระดับแบตเตอรี่</a:t>
            </a:r>
          </a:p>
          <a:p>
            <a:pPr>
              <a:defRPr b="1" sz="1150">
                <a:solidFill>
                  <a:srgbClr val="0F172A"/>
                </a:solidFill>
              </a:defRPr>
            </a:pPr>
            <a:r>
              <a:t>• Multi-Station Management: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</a:defRPr>
            </a:pPr>
            <a:r>
              <a:t>  สลับดูข้อมูลสถานีตรวจวัดน้ำได้หลายจุดพร้อมกันในแอปเดียว (All Devices Hub)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NCT WATER NEXUS PRO | SMART WATER MONITORING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เกณฑ์มาตรฐานคุณภาพน้ำและการแจ้งเตือน (Water Quality Benchmarks)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728655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645920"/>
                <a:gridCol w="2286000"/>
                <a:gridCol w="2011680"/>
                <a:gridCol w="2773375"/>
              </a:tblGrid>
              <a:tr h="609600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พารามิเตอร์ (Parameter)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หน่วยตรวจวัด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เกณฑ์มาตรฐานปลอดภัย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ค่าเฉลี่ยปกติของระบบ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เงื่อนไขการแจ้งเตือน (Alert Action)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ความเป็นกรด-ด่าง (pH)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pH Scale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6.50 - 8.50 pH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59669"/>
                          </a:solidFill>
                        </a:defRPr>
                      </a:pPr>
                      <a:r>
                        <a:t>7.20 - 7.35 pH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284C7"/>
                          </a:solidFill>
                        </a:defRPr>
                      </a:pPr>
                      <a:r>
                        <a:t>เตือนทันทีเมื่อ pH &lt; 6.80 หรือ &gt; 8.20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อุณหภูมิน้ำ (Water Temp)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°Celsius / °F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15.0 - 30.0 °C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59669"/>
                          </a:solidFill>
                        </a:defRPr>
                      </a:pPr>
                      <a:r>
                        <a:t>17.0 - 22.0 °C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284C7"/>
                          </a:solidFill>
                        </a:defRPr>
                      </a:pPr>
                      <a:r>
                        <a:t>ส่งค่า ATC ปรับชดเชยการอ่านค่า pH/TDS สด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สารละลายรวม (TDS)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ppm (mg/L)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&lt; 500 ppm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59669"/>
                          </a:solidFill>
                        </a:defRPr>
                      </a:pPr>
                      <a:r>
                        <a:t>180 - 230 ppm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284C7"/>
                          </a:solidFill>
                        </a:defRPr>
                      </a:pPr>
                      <a:r>
                        <a:t>เตือนเมื่อ &gt; 450 ppm (แนะตรวจเช็คไส้กรอง)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คลอรีนคงเหลือ (Residual Cl)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mg/L (ppm)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0.20 - 2.00 mg/L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59669"/>
                          </a:solidFill>
                        </a:defRPr>
                      </a:pPr>
                      <a:r>
                        <a:t>0.80 - 1.00 mg/L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284C7"/>
                          </a:solidFill>
                        </a:defRPr>
                      </a:pPr>
                      <a:r>
                        <a:t>เตือนเมื่อ &lt; 0.20 mg/L (ความเสี่ยงเชื้อโรค)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ศักย์ไฟฟ้าออกซิเดชัน (ORP)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mV (Millivolts)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&gt; 650 mV (Sanitized)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59669"/>
                          </a:solidFill>
                        </a:defRPr>
                      </a:pPr>
                      <a:r>
                        <a:t>700 - 750 mV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284C7"/>
                          </a:solidFill>
                        </a:defRPr>
                      </a:pPr>
                      <a:r>
                        <a:t>ยืนยันความสามารถในการฆ่าเชื้อโรค 99.9%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31520" y="5303520"/>
            <a:ext cx="10728655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53949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284C7"/>
                </a:solidFill>
              </a:defRPr>
            </a:pPr>
            <a:r>
              <a:t>🛡️ ความสอดคล้องตามมาตรฐานระดับสากลและในประเทศ: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ระบบ NCT WATER NEXUS ออกแบบตามข้อกำหนดมาตรฐานน้ำบริโภคของ กรมอนามัย กระทรวงสาธารณสุข, กรมโรงงานอุตสาหกรรม (DIW), องค์การอนามัยโลก (WHO Drinking Water Guidelines) และ US EPA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NCT WATER NEXUS PRO | SMART WATER MONITORING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แพ็กเกจราคาขายระบบตรวจวัดและแดชบอร์ด (Commercial Pricing Packages)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33832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83280" cy="11887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3017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DD4BF"/>
                </a:solidFill>
              </a:defRPr>
            </a:pPr>
            <a:r>
              <a:t>Basic Monitoring</a:t>
            </a:r>
          </a:p>
          <a:p>
            <a:pPr>
              <a:defRPr sz="1500" b="1">
                <a:solidFill>
                  <a:srgbClr val="FFFFFF"/>
                </a:solidFill>
              </a:defRPr>
            </a:pPr>
            <a:r>
              <a:t>STARTER MONITORING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฿24,500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900">
                <a:solidFill>
                  <a:srgbClr val="64748B"/>
                </a:solidFill>
              </a:defRPr>
            </a:pPr>
            <a:r>
              <a:t>สำหรับระบบน้ำขนาดเล็ก / คาเฟ่ / อาคาร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✓ 1x NCT Controller Node (WiFi Hub)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✓ 1x Glass pH Sensor (±0.01 pH)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✓ 1x PT1000 Temp Sensor (with ATC)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✓ Web Dashboard &amp; Mobile App Access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✓ Cloud Telemetry Server (ฟรี 1 ปี)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✓ คู่มือการติดตั้งและการใช้งาน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✓ รับประกันอุปกรณ์ฮาร์ดแวร์ 1 ปี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3832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383280" cy="118872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554480"/>
            <a:ext cx="3017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★ MOST POPULAR</a:t>
            </a:r>
          </a:p>
          <a:p>
            <a:pPr>
              <a:defRPr sz="1500" b="1">
                <a:solidFill>
                  <a:srgbClr val="FFFFFF"/>
                </a:solidFill>
              </a:defRPr>
            </a:pPr>
            <a:r>
              <a:t>PROFESSIONAL TELEMETRY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฿48,000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7432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900">
                <a:solidFill>
                  <a:srgbClr val="64748B"/>
                </a:solidFill>
              </a:defRPr>
            </a:pPr>
            <a:r>
              <a:t>ยอดนิยม! ตรวจวัดคุณภาพน้ำครบ 4 ค่าหลัก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✓ 1x Heavy-Duty SCADA Node (IP67)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✓ 4x เซนเซอร์ครบชุด (pH, Temp, TDS, Cl)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✓ Dual Telemetry Hub (4G LTE + WiFi)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✓ LiFePO4 Battery Backup ใช้งานยามไฟดับ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✓ Cloud SCADA Web + Mobile Pro (ฟรี 2 ปี)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✓ ระบบแจ้งเตือน Line Alert &amp; SMS 24/7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✓ บริการติดตั้ง ปรับเทียบ และ Setup หน้างาน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✓ รับประกันอุปกรณ์และบริการ 2 ปีเต็ม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63040"/>
            <a:ext cx="33832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20" y="1463040"/>
            <a:ext cx="3383280" cy="11887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554480"/>
            <a:ext cx="3017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Lab Grade 5-in-1</a:t>
            </a:r>
          </a:p>
          <a:p>
            <a:pPr>
              <a:defRPr sz="1500" b="1">
                <a:solidFill>
                  <a:srgbClr val="FFFFFF"/>
                </a:solidFill>
              </a:defRPr>
            </a:pPr>
            <a:r>
              <a:t>ENTERPRISE SCADA STATION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฿85,000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7432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900">
                <a:solidFill>
                  <a:srgbClr val="64748B"/>
                </a:solidFill>
              </a:defRPr>
            </a:pPr>
            <a:r>
              <a:t>ระบบตรวจวัดระดับห้องแล็บ 5 พารามิเตอร์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✓ 1x Industrial Master SCADA PLC Hub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✓ 5x เซนเซอร์แล็บ (pH, Temp, TDS, Cl, ORP)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✓ ชุดบายพาส Flow Cell Mounting Chamber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✓ Dual Power Supply + LiFePO4 Backup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✓ Cloud Unlimited + Modbus TCP/ERP API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✓ ระบบรายงาน Audit Trail อัตโนมัติ (PDF/Excel)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✓ On-site Calibration &amp; Maintenance 4 ครั้ง/ปี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✓ รับประกันพรีเมียม 3 ปี (24/7 Priority SLA)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NCT WATER NEXUS PRO | SMART WATER MONITORING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อุปกรณ์เสริมและการบริการดูแลรักษารายปี (Add-ons &amp; Service Level Agreement)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50">
                <a:solidFill>
                  <a:srgbClr val="0F172A"/>
                </a:solidFill>
              </a:defRPr>
            </a:pPr>
            <a:r>
              <a:t>📡 ค่าบริการ Cloud Platform &amp; 4G SIM รายปี</a:t>
            </a:r>
          </a:p>
          <a:p>
            <a:pPr>
              <a:spcAft>
                <a:spcPts val="600"/>
              </a:spcAft>
              <a:defRPr b="1" sz="1200">
                <a:solidFill>
                  <a:srgbClr val="0284C7"/>
                </a:solidFill>
              </a:defRPr>
            </a:pPr>
            <a:r>
              <a:t>ราคา: ฿6,000 - ฿9,600 / ปี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• รวมค่าแพ็กเกจ 4G eSIM ส่งข้อมูลสดตลอด 24 ชั่วโมง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• พื้นที่จัดเก็บบันทึกข้อมูลคุณภาพน้ำย้อนหลังบน Cloud ไม่จำกัด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• อัปเดตซอฟต์แวร์และฟีเจอร์ Dashboard ใหม่ฟรีตลอดอายุสัญญา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• ระบบแจ้งเตือน Line Alert &amp; Email Notification อัตโนมัติ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463040"/>
            <a:ext cx="512064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09360" y="160020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50">
                <a:solidFill>
                  <a:srgbClr val="0F172A"/>
                </a:solidFill>
              </a:defRPr>
            </a:pPr>
            <a:r>
              <a:t>🔧 สัญญาบริการปรับเทียบมาตรฐาน (Annual SLA &amp; Calibration)</a:t>
            </a:r>
          </a:p>
          <a:p>
            <a:pPr>
              <a:spcAft>
                <a:spcPts val="600"/>
              </a:spcAft>
              <a:defRPr b="1" sz="1200">
                <a:solidFill>
                  <a:srgbClr val="0284C7"/>
                </a:solidFill>
              </a:defRPr>
            </a:pPr>
            <a:r>
              <a:t>ราคา: ฿12,000 / ปี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• บริการเข้าตรวจสอบและสอบเทียบหัววัดหน้างาน 4 ครั้ง/ปี (ทุกไตรมาส)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• พร้อมน้ำยา Buffer มาตรฐาน (Standard Solution pH 4.01, 7.00, 10.01)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• ออกใบรับรอง Certificate of Calibration สำหรับการตรวจประเมิน ISO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• สิทธิ์เปลี่ยนอะไหล่ฉุกเฉินและมีอุปกรณ์สำรองใช้งานระหว่างส่งซ่อม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40480"/>
            <a:ext cx="512064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7764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50">
                <a:solidFill>
                  <a:srgbClr val="0F172A"/>
                </a:solidFill>
              </a:defRPr>
            </a:pPr>
            <a:r>
              <a:t>💧 ชุดกระเปาะวัดน้ำติดตั้งสำเร็จ (Flow Cell Chamber Kit)</a:t>
            </a:r>
          </a:p>
          <a:p>
            <a:pPr>
              <a:spcAft>
                <a:spcPts val="600"/>
              </a:spcAft>
              <a:defRPr b="1" sz="1200">
                <a:solidFill>
                  <a:srgbClr val="0284C7"/>
                </a:solidFill>
              </a:defRPr>
            </a:pPr>
            <a:r>
              <a:t>ราคา: ฿8,500 / ชุด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• กระเปาะใส่หัววัด Acrylic/PVC ทนแรงดัน พร้อมวาล์วปรับอัตราการไหล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• ระบบบายพาส (Bypass Loop) ง่ายต่อการถอดล้างและ Calibrate หัววัด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• มีช่องสำหรับติดตั้งหัววัด pH, Temp, TDS, Cl ครบในจุดเดียว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• ป้องกันฟองอากาศรบกวนการอ่านค่าของเซนเซอร์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3840480"/>
            <a:ext cx="512064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397764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50">
                <a:solidFill>
                  <a:srgbClr val="0F172A"/>
                </a:solidFill>
              </a:defRPr>
            </a:pPr>
            <a:r>
              <a:t>🔌 โมดูลเชื่อมต่อระบบภายนอก (SCADA / ERP / Modbus TCP)</a:t>
            </a:r>
          </a:p>
          <a:p>
            <a:pPr>
              <a:spcAft>
                <a:spcPts val="600"/>
              </a:spcAft>
              <a:defRPr b="1" sz="1200">
                <a:solidFill>
                  <a:srgbClr val="0284C7"/>
                </a:solidFill>
              </a:defRPr>
            </a:pPr>
            <a:r>
              <a:t>ราคา: ฿12,000 / ระบบ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• ส่งต่อข้อมูลคุณภาพน้ำเข้าสู่ระบบ SCADA เดิมของโรงงานผ่าน Modbus TCP/RTU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• RESTful API &amp; Webhook สำหรับดึงข้อมูลเข้าสู่ระบบ ERP, MES หรือ Power BI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• รองรับการเชื่อมต่อกับระบบ PLC ยี่ห้อ Siemens, Mitsubishi, Omron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• พร้อมทีมวิศวกรซอฟต์แวร์สนับสนุนการ Integration จนใช้งานได้สมบูรณ์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NCT WATER NEXUS PRO | SMART WATER MONITORING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ความคุ้มค่าและผลตอบแทนการลงทุน (ROI &amp; Business Value)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468880" cy="137160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</a:defRPr>
            </a:pPr>
            <a:r>
              <a:t>LABOR HOURS SAVED</a:t>
            </a:r>
          </a:p>
          <a:p>
            <a:pPr>
              <a:defRPr sz="1600" b="1">
                <a:solidFill>
                  <a:srgbClr val="FFFFFF"/>
                </a:solidFill>
              </a:defRPr>
            </a:pPr>
            <a:r>
              <a:t>ลดเวลาแรงงาน 80%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017520"/>
            <a:ext cx="21945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ไม่ต้องจัดเจ้าหน้าที่เดินตักน้ำตรวจวันละหลายรอบ ลดภาระงานและให้พนักงานโฟกัสงานซ่อมบำรุงเชิงรุก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4720" y="1463040"/>
            <a:ext cx="2468880" cy="137160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160020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</a:defRPr>
            </a:pPr>
            <a:r>
              <a:t>ZERO COMPLIANCE VIOLATION</a:t>
            </a:r>
          </a:p>
          <a:p>
            <a:pPr>
              <a:defRPr sz="1600" b="1">
                <a:solidFill>
                  <a:srgbClr val="FFFFFF"/>
                </a:solidFill>
              </a:defRPr>
            </a:pPr>
            <a:r>
              <a:t>ป้องกันน้ำหลุดเกณฑ์ 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3017520"/>
            <a:ext cx="21945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ระบบตรวจจับและแจ้งเตือนทันทีภายใน 1 วินาที ป้องกันปัญหาสินค้าเสียหายและค่าปรับจากหน่วยงานรัฐ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463040"/>
            <a:ext cx="2468880" cy="137160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60020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</a:defRPr>
            </a:pPr>
            <a:r>
              <a:t>PREDICTIVE MAINTENANCE</a:t>
            </a:r>
          </a:p>
          <a:p>
            <a:pPr>
              <a:defRPr sz="1600" b="1">
                <a:solidFill>
                  <a:srgbClr val="FFFFFF"/>
                </a:solidFill>
              </a:defRPr>
            </a:pPr>
            <a:r>
              <a:t>เพิ่มประสิทธิภาพโรงงาน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3017520"/>
            <a:ext cx="21945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วิเคราะห์แนวโน้มล่วงหน้า รู้จังหวะล้างฟิลเตอร์และเปลี่ยนสารกรองก่อนที่ระบบจะตันหรือพัง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961120" y="1463040"/>
            <a:ext cx="2468880" cy="1371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98280" y="160020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</a:defRPr>
            </a:pPr>
            <a:r>
              <a:t>FAST PAYBACK PERIOD</a:t>
            </a:r>
          </a:p>
          <a:p>
            <a:pPr>
              <a:defRPr sz="1600" b="1">
                <a:solidFill>
                  <a:srgbClr val="FFFFFF"/>
                </a:solidFill>
              </a:defRPr>
            </a:pPr>
            <a:r>
              <a:t>คืนทุนภายใน 3 - 5 เดือน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8280" y="3017520"/>
            <a:ext cx="21945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เมื่อเทียบกับค่าแรงงานที่ประหยัดได้ + การป้องกันความเสียหายของเครื่องจักรและผลิตภัณฑ์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NCT WATER NEXUS PRO | SMART WATER MONITORING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ขั้นตอนการติดตั้งและส่งมอบงาน (4-Week Implementation Roadmap)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45920"/>
            <a:ext cx="2194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284C7"/>
                </a:solidFill>
              </a:defRPr>
            </a:pPr>
            <a:r>
              <a:t>WEEK 01</a:t>
            </a:r>
          </a:p>
          <a:p>
            <a:pPr>
              <a:spcAft>
                <a:spcPts val="1200"/>
              </a:spcAft>
              <a:defRPr b="1" sz="1200">
                <a:solidFill>
                  <a:srgbClr val="0F172A"/>
                </a:solidFill>
              </a:defRPr>
            </a:pPr>
            <a:r>
              <a:t>สำรวจหน้างานและตำแหน่ง (Site Survey)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• สำรวจจุดติดตั้งท่อน้ำ Flow Chamber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• กำหนดพิกัดติดตั้งตู้คอนโทรลเลอร์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• ทดสอบสัญญาณ WiFi / 4G Cellular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• สรุปแบบ Diagram และรายการอุปกรณ์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11880" y="1645920"/>
            <a:ext cx="2194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284C7"/>
                </a:solidFill>
              </a:defRPr>
            </a:pPr>
            <a:r>
              <a:t>WEEK 02</a:t>
            </a:r>
          </a:p>
          <a:p>
            <a:pPr>
              <a:spcAft>
                <a:spcPts val="1200"/>
              </a:spcAft>
              <a:defRPr b="1" sz="1200">
                <a:solidFill>
                  <a:srgbClr val="0F172A"/>
                </a:solidFill>
              </a:defRPr>
            </a:pPr>
            <a:r>
              <a:t>ติดตั้งฮาร์ดแวร์และเซนเซอร์ (Installation)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• ติดตั้งตู้ควบคุม NCT Controller Node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• ติดตั้งชุดเซนเซอร์และ Flow Sensor Cell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• เดินสายสัญญาณและระบบไฟฟ้าสำรอง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• ทดสอบระบบไฟและเซนเซอร์เบื้องต้น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645920"/>
            <a:ext cx="2194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284C7"/>
                </a:solidFill>
              </a:defRPr>
            </a:pPr>
            <a:r>
              <a:t>WEEK 03</a:t>
            </a:r>
          </a:p>
          <a:p>
            <a:pPr>
              <a:spcAft>
                <a:spcPts val="1200"/>
              </a:spcAft>
              <a:defRPr b="1" sz="1200">
                <a:solidFill>
                  <a:srgbClr val="0F172A"/>
                </a:solidFill>
              </a:defRPr>
            </a:pPr>
            <a:r>
              <a:t>สอบเทียบและเชื่อมต่อระบบ (Cloud Setup)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• เทียบมาตรฐานหัววัด (Calibration 2/3 Points)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• เชื่อมต่อระบบ Telemetry สู่ Cloud Server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• ตั้งค่าเกณฑ์แจ้งเตือน Dashboard และ Line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• ทดสอบระบบเตือนภัยฉุกเฉิน (Alert Test)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98280" y="1645920"/>
            <a:ext cx="2194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284C7"/>
                </a:solidFill>
              </a:defRPr>
            </a:pPr>
            <a:r>
              <a:t>WEEK 04</a:t>
            </a:r>
          </a:p>
          <a:p>
            <a:pPr>
              <a:spcAft>
                <a:spcPts val="1200"/>
              </a:spcAft>
              <a:defRPr b="1" sz="1200">
                <a:solidFill>
                  <a:srgbClr val="0F172A"/>
                </a:solidFill>
              </a:defRPr>
            </a:pPr>
            <a:r>
              <a:t>อบรมและส่งมอบโครงการ (Commissioning)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• ทดสอบการทำงานต่อเนื่อง 72 ชั่วโมง (Trial Run)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• อบรมการใช้งาน Dashboard สำหรับทีมวิศวกร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• ส่งมอบคู่มือการบำรุงรักษาและเอกสารรับประกัน</a:t>
            </a:r>
          </a:p>
          <a:p>
            <a:pPr>
              <a:spcAft>
                <a:spcPts val="600"/>
              </a:spcAft>
              <a:defRPr sz="1000">
                <a:solidFill>
                  <a:srgbClr val="64748B"/>
                </a:solidFill>
              </a:defRPr>
            </a:pPr>
            <a:r>
              <a:t>• เริ่มนับระยะเวลารับประกันโครงการ (Go-Live)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1188720"/>
            <a:ext cx="9601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DD4BF"/>
                </a:solidFill>
              </a:defRPr>
            </a:pPr>
            <a:r>
              <a:t>💧 ยกระดับระบบตรวจวัดและบริหารจัดการคุณภาพน้ำสู่อนาคต</a:t>
            </a:r>
          </a:p>
          <a:p>
            <a:pPr>
              <a:spcAft>
                <a:spcPts val="800"/>
              </a:spcAft>
              <a:defRPr sz="3200" b="1">
                <a:solidFill>
                  <a:srgbClr val="FFFFFF"/>
                </a:solidFill>
              </a:defRPr>
            </a:pPr>
            <a:r>
              <a:t>NCT WATER NEXUS PRO</a:t>
            </a:r>
          </a:p>
          <a:p>
            <a:pPr>
              <a:spcAft>
                <a:spcPts val="2400"/>
              </a:spcAft>
              <a:defRPr sz="1400">
                <a:solidFill>
                  <a:srgbClr val="CBD5E1"/>
                </a:solidFill>
              </a:defRPr>
            </a:pPr>
            <a:r>
              <a:t>พร้อมให้คำปรึกษา ออกแบบระบบ และสาธิตการทำงานจริง (Live Demo) โดยทีมวิศวกรผู้เชี่ยวชาญ</a:t>
            </a:r>
          </a:p>
          <a:p>
            <a:pPr>
              <a:defRPr b="1" sz="1300">
                <a:solidFill>
                  <a:srgbClr val="FFFFFF"/>
                </a:solidFill>
              </a:defRPr>
            </a:pPr>
            <a:r>
              <a:t>✨ จุดเด่นที่ได้รับทันที:</a:t>
            </a:r>
          </a:p>
          <a:p>
            <a:pPr>
              <a:spcAft>
                <a:spcPts val="2800"/>
              </a:spcAft>
              <a:defRPr sz="1150">
                <a:solidFill>
                  <a:srgbClr val="E2E8F0"/>
                </a:solidFill>
              </a:defRPr>
            </a:pPr>
            <a:r>
              <a:t>1. ระบบตรวจวัดคุณภาพน้ำ Real-Time 24 ชม. ครบวงจร ทั้งฮาร์ดแวร์ + แดชบอร์ด SCADA + Mobile App</a:t>
            </a:r>
            <a:br/>
            <a:r>
              <a:t>2. ติดตั้งง่าย ไม่ต้องหยุดระบบการผลิต (Non-Intrusive Installation)</a:t>
            </a:r>
            <a:br/>
            <a:r>
              <a:t>3. คืนทุนไวภายใน 3-5 เดือน พร้อมทีมดูแลและรับประกันสูงสุด 3 ปี</a:t>
            </a:r>
          </a:p>
          <a:p>
            <a:pPr>
              <a:defRPr sz="1200" b="1">
                <a:solidFill>
                  <a:srgbClr val="2DD4BF"/>
                </a:solidFill>
              </a:defRPr>
            </a:pPr>
            <a:r>
              <a:t>📞 สนใจสอบถามข้อมูลเพิ่มเติมและขอใบเสนอราคา (Request for Quotation):</a:t>
            </a:r>
            <a:br/>
            <a:r>
              <a:t>• Email: sales@nct-water.com  |  Tel: 02-XXX-XXXX, 08X-XXX-XXXX  |  Line: @nctwater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