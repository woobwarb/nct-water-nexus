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DD4BF"/>
                </a:solidFill>
              </a:defRPr>
            </a:pPr>
            <a:r>
              <a:t>💧 โครงการระบบตรวจวัดคุณภาพน้ำอัจฉริยะ 100 ชุด (Modela + Cybertice)</a:t>
            </a:r>
          </a:p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800"/>
              </a:spcAft>
              <a:defRPr sz="1600">
                <a:solidFill>
                  <a:srgbClr val="CBD5E1"/>
                </a:solidFill>
              </a:defRPr>
            </a:pPr>
            <a:r>
              <a:t>รายงานนำเสนอโซลูชันระบบตรวจวัดคุณภาพน้ำ แดชบอร์ดควบคุม และใบเสนอราคาทางการ (100 ชุด)</a:t>
            </a:r>
          </a:p>
          <a:p>
            <a:pPr>
              <a:spcAft>
                <a:spcPts val="2800"/>
              </a:spcAft>
              <a:defRPr sz="1200">
                <a:solidFill>
                  <a:srgbClr val="94A3B8"/>
                </a:solidFill>
              </a:defRPr>
            </a:pPr>
            <a:r>
              <a:t>• 4 พารามิเตอร์คุณภาพน้ำ: pH / TDS / อุณหภูมิน้ำ (ATC) / คลอรีนคงเหลือ (Residual Cl)</a:t>
            </a:r>
            <a:br/>
            <a:r>
              <a:t>• ระบบแดชบอร์ดคู่ขนาน: Centralized Web Dashboard (จอใหญ่ห้องควบคุม) + Modela Mobile App (5 หน้าเมนู)</a:t>
            </a:r>
            <a:br/>
            <a:r>
              <a:t>• ข้อเสนอราคาโครงการ 100 ชุด (ไม่รวมติดตั้ง): ฿31,500 / ชุด (มูลค่ารวม ฿3,150,000 บาท) สรุปไว้ท้ายสุด (สไลด์ 6-8)</a:t>
            </a:r>
          </a:p>
          <a:p>
            <a:pPr>
              <a:defRPr sz="1100">
                <a:solidFill>
                  <a:srgbClr val="2DD4BF"/>
                </a:solidFill>
              </a:defRPr>
            </a:pPr>
            <a:r>
              <a:t>NCT Water Solutions  •  System Version 2.5 Pro  •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1. ภาพรวมโครงการและข้อกำหนดทางเทคนิค 4 พารามิเตอร์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#1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ความเป็นกรด-ด่าง (pH)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14.00 pH</a:t>
            </a:r>
            <a:br/>
            <a:br/>
            <a:r>
              <a:t>• ความแม่นยำ (Accuracy):</a:t>
            </a:r>
            <a:br/>
            <a:r>
              <a:t>  ±0.01 pH</a:t>
            </a:r>
            <a:br/>
            <a:br/>
            <a:r>
              <a:t>• เทคโนโลยีเซนเซอร์:</a:t>
            </a:r>
            <a:br/>
            <a:r>
              <a:t>  Industrial Glass Electrode Probe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#2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สารละลายรวม (TDS)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 – 2,000 ppm</a:t>
            </a:r>
            <a:br/>
            <a:br/>
            <a:r>
              <a:t>• ความแม่นยำ (Accuracy):</a:t>
            </a:r>
            <a:br/>
            <a:r>
              <a:t>  ±1.5% F.S.</a:t>
            </a:r>
            <a:br/>
            <a:br/>
            <a:r>
              <a:t>• เทคโนโลยีเซนเซอร์:</a:t>
            </a:r>
            <a:br/>
            <a:r>
              <a:t>  Titanium Dual-Pole Sensor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#3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อุณหภูมิน้ำ (Water Temp)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-10.0 – 80.0 °C</a:t>
            </a:r>
            <a:br/>
            <a:br/>
            <a:r>
              <a:t>• ความแม่นยำ (Accuracy):</a:t>
            </a:r>
            <a:br/>
            <a:r>
              <a:t>  ±0.2 °C</a:t>
            </a:r>
            <a:br/>
            <a:br/>
            <a:r>
              <a:t>• เทคโนโลยีเซนเซอร์:</a:t>
            </a:r>
            <a:br/>
            <a:r>
              <a:t>  PT1000 RTD พร้อมระบบ ATC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#4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คลอรีนคงเหลือ (Residual Cl)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5.00 mg/L</a:t>
            </a:r>
            <a:br/>
            <a:br/>
            <a:r>
              <a:t>• ความแม่นยำ (Accuracy):</a:t>
            </a:r>
            <a:br/>
            <a:r>
              <a:t>  ±0.02 mg/L</a:t>
            </a:r>
            <a:br/>
            <a:br/>
            <a:r>
              <a:t>• เทคโนโลยีเซนเซอร์:</a:t>
            </a:r>
            <a:br/>
            <a:r>
              <a:t>  Amperometric Membrane Sensor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2. ภาพแคปหน้าจอระบบ Centralized Web Dashboard จริง (index.html)</a:t>
            </a:r>
          </a:p>
        </p:txBody>
      </p:sp>
      <p:pic>
        <p:nvPicPr>
          <p:cNvPr id="3" name="Picture 2" descr="scad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0" y="1463040"/>
            <a:ext cx="432785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1600200"/>
            <a:ext cx="3962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</a:defRPr>
            </a:pPr>
            <a:r>
              <a:t>💻 คำอธิบายฟังก์ชันหน้าจอ Web Dashboard: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❶ สถานะระบบ &amp; แบตเตอรี่: แสดงสถานะ Healthy, สัญญาณ 4G/WiFi และแบต LiFePO4 (90%)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❷ การ์ดตรวจวัด 4 ค่าหลัก: อุณหภูมิน้ำ (ATC), pH (Glass Probe), TDS (ppm), Cl (mg/L)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❸ กราฟแนวโน้ม Real-Time: พล็อตข้อมูลสด 1 วินาที ติดตามค่าน้ำ 24 ชม. พร้อมซูมดูย้อนหลัง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❹ ไดอะแกรมเชื่อมต่อ: ตรวจจับสายสัญญาณ WiFi ➔ Display ➔ Sensor Probes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❺ Digital Calibration: สอบเทียบหัววัด pH 7.00 / 4.01 ผ่านหน้าเว็บในคลิกเดียว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❻ ส่งออกรายงาน: Export ข้อมูลเป็น Excel / PDF สำหรับรายงาน ISO ทันที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3. ภาพแคปหน้าจอแอปมือถือจริงครบทุกแท็บเมนู (Modela Mobile Multi-Screen)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b_screen_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2194560" cy="37490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1. หน้าแดชบอร์ดหลัก (Home)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Hero pH, Cl, Temp, TDS, Battery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ob_screen_2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600200"/>
            <a:ext cx="2194560" cy="374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5661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2. กราฟย้อนหลัง (History)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กราฟแนวโน้มสด &amp; ตารางสถิติ Avg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ob_screen_3_devi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600200"/>
            <a:ext cx="2194560" cy="37490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3. รวม 100 สถานี (Devices)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สลับดูสถานี #01 ถึง #100 Online/Alert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ob_screen_4_cali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600200"/>
            <a:ext cx="2194560" cy="37490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525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4. สอบเทียบหัววัด (Calib)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pH 7.00, pH 4.01, TDS &amp; Cl Zero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4. ตัวอย่างข้อความแจ้งเตือนเมื่อพบค่าผิดปกติ (Telegram vs LINE OA)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284C7"/>
                </a:solidFill>
              </a:defRPr>
            </a:pPr>
            <a:r>
              <a:t>✈️ รูปแบบ Telegram Alert (ส่งฟรี &amp; ไวมาก)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แจ้งเตือนคุณภาพน้ำผิดปกติ</a:t>
            </a:r>
            <a:br/>
            <a:r>
              <a:t>📍 จุดติดตั้ง: บ่อพักน้ำ #04 (ตู้ 1004)</a:t>
            </a:r>
            <a:br/>
            <a:r>
              <a:t>⏰ เวลา: 14:15 น.</a:t>
            </a:r>
            <a:br/>
            <a:r>
              <a:t>━━━━━━━━━━━━━━━━━━━━</a:t>
            </a:r>
            <a:br/>
            <a:r>
              <a:t>• คลอรีน: 0.15 mg/L ❌ (เกณฑ์ 0.20-2.00)</a:t>
            </a:r>
            <a:br/>
            <a:r>
              <a:t>• pH: 6.4 ❌ (เกณฑ์ 6.5-8.5)</a:t>
            </a:r>
            <a:br/>
            <a:r>
              <a:t>• TDS: 185 ppm (ปกติ)</a:t>
            </a:r>
            <a:br/>
            <a:r>
              <a:t>• อุณหภูมิ: 28.5 °C (ปกติ)</a:t>
            </a:r>
            <a:br/>
            <a:r>
              <a:t>━━━━━━━━━━━━━━━━━━━━</a:t>
            </a:r>
            <a:br/>
            <a:r>
              <a:t>🔗 ดูกราฟย้อนหลัง: https://water-iot.com/node/1004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✔ จุดเด่น: ส่งฟรี 100% ไม่มีค่า Broadcast รายเดือน ประหยัดงบประมาณสูงสุด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59669"/>
                </a:solidFill>
              </a:defRPr>
            </a:pPr>
            <a:r>
              <a:t>💬 รูปแบบ LINE OA Alert (การ์ดสถานะในกลุ่มไลน์)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[CRITICAL] คุณภาพน้ำหลุดเกณฑ์</a:t>
            </a:r>
            <a:br/>
            <a:r>
              <a:t>📍 สถานี: บ่อจ่ายน้ำเขตเหนือ</a:t>
            </a:r>
            <a:br/>
            <a:r>
              <a:t>━━━━━━━━━━━━━━━━━━━━</a:t>
            </a:r>
            <a:br/>
            <a:r>
              <a:t>• คลอรีน: 0.12 mg/L ⚠️ (ต่ำกว่าเกณฑ์)</a:t>
            </a:r>
            <a:br/>
            <a:r>
              <a:t>• ค่า pH: 6.30 ⚠️ (ต่ำกว่าเกณฑ์)</a:t>
            </a:r>
            <a:br/>
            <a:r>
              <a:t>• ค่า TDS: 190 ppm (ปกติ)</a:t>
            </a:r>
            <a:br/>
            <a:r>
              <a:t>• อุณหภูมิ: 29.0 °C (ปกติ)</a:t>
            </a:r>
            <a:br/>
            <a:r>
              <a:t>━━━━━━━━━━━━━━━━━━━━</a:t>
            </a:r>
            <a:br/>
            <a:r>
              <a:t>👉 [เปิด Dashboard ดูข้อมูลสด]</a:t>
            </a:r>
          </a:p>
          <a:p>
            <a:pPr>
              <a:defRPr sz="950" b="1">
                <a:solidFill>
                  <a:srgbClr val="0284C7"/>
                </a:solidFill>
              </a:defRPr>
            </a:pPr>
            <a:r>
              <a:t>✔ จุดเด่น: แจ้งเตือนเป็นการ์ดสถานะในกลุ่ม LINE สะดวกสำหรับผู้บริหาร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5. รายการอุปกรณ์ฮาร์ดแวร์ตู้คอนโทรลมาตรฐาน 4 ค่า (Hardware Specs)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ชุดเซนเซอร์หลัก (Modela One + 4 ค่า)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Modbus RTU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บอร์ดควบคุมหลัก Modela One (RS-485)</a:t>
            </a:r>
            <a:br/>
            <a:r>
              <a:t>• หัววัด pH แก้วอุตสาหกรรม (±0.01 pH)</a:t>
            </a:r>
            <a:br/>
            <a:r>
              <a:t>• หัววัด TDS Titanium Dual-Pole</a:t>
            </a:r>
            <a:br/>
            <a:r>
              <a:t>• หัววัดอุณหภูมิ PT1000 RTD (ATC)</a:t>
            </a:r>
            <a:br/>
            <a:r>
              <a:t>• เซนเซอร์คลอรีนคงเหลือ Cybertice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4G LTE Router (TP-Link TL-MR100)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300 Mbps Wi-Fi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เราเตอร์ 4G LTE Wi-Fi ความเร็ว 300 Mbps</a:t>
            </a:r>
            <a:br/>
            <a:r>
              <a:t>• เสารับสัญญาณภายนอก 2 เสา สัญญาณนิ่งเสถียร</a:t>
            </a:r>
            <a:br/>
            <a:r>
              <a:t>• เชื่อมต่อระบบ Telemetry สดทุก 1 วินาที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ซิมการ์ด 4G รายปี (Unlimited)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15-20 Mbps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ซิมเน็ต IoT รายปี ไม่อั้น ไม่ลดสปีด</a:t>
            </a:r>
            <a:br/>
            <a:r>
              <a:t>• รวมค่าบริการเครือข่าย 12 เดือนเต็ม</a:t>
            </a:r>
            <a:br/>
            <a:r>
              <a:t>• ส่งข้อมูลขึ้นระบบคลาวด์ตลอด 24 ชม.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ตู้คอนโทรล IP65 + Switching 24V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IP65 Waterproof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ตู้กันน้ำกันฝุ่นมาตรฐาน IP65</a:t>
            </a:r>
            <a:br/>
            <a:r>
              <a:t>• แหล่งจ่ายไฟ Switching Power Supply 24V</a:t>
            </a:r>
            <a:br/>
            <a:r>
              <a:t>• Breaker ป้องกันไฟเกิน + Terminal + Wiring ครบ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93776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074920"/>
            <a:ext cx="10149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2DD4BF"/>
                </a:solidFill>
              </a:defRPr>
            </a:pPr>
            <a:r>
              <a:t>➡️ มาตรฐานชุดอุปกรณ์: สำเร็จรูปพร้อมติดตั้ง 100 จุด สื่อสาร 4G LTE และ Cloud Dashboard ครบวงจร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ชุดอุปกรณ์ประกอบสำเร็จรูป ตรวจสอบระบบไฟฟ้า และทดสอบสัญญาณเชื่อมต่อออนไลน์ 100% ก่อนส่งมอบหน้างาน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6. โครงสร้างราคาขายทางการ (ไม่รวมติดตั้งหน้างาน - 100 ชุด)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69494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6949440" cy="11887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6400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ชุดอุปกรณ์ตรวจวัดคุณภาพน้ำสำเร็จรูปพร้อมออนไลน์ (ไม่รวมติดตั้ง)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Plug &amp; Play / Supply Only (ราคา ฿31,500 บาท / ชุด)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640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📋 ขอบเขตงานและรายการส่งมอบ (Scope of Deliverables):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ประกอบตู้คอนโทรลสำเร็จรูป IP65 พร้อมระบบไฟ Switching 24V และ Surge Protection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ชุดเซนเซอร์ 4 ค่า (Modela One + pH แก้ว + TDS Titanium + PT1000 + คลอรีน Cybertice)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เราเตอร์ 4G LTE (TP-Link TL-MR100) พร้อมซิมการ์ด IoT Unlimited Data 12 เดือนเต็ม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ตั้งค่าระบบ Modela Mobile App และ Centralized Web Dashboard 100 จุด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จัดส่งอุปกรณ์สำเร็จรูปถึงหน้างาน พร้อมคู่มือและแบบแปลนการต่อท่อบายพาส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รับประกันอุปกรณ์ฮาร์ดแวร์และหัววัดเซนเซอร์ตลอด 1 ปีเต็ม (ลูกค้าติดตั้งยึดตู้เอง)</a:t>
            </a:r>
          </a:p>
          <a:p>
            <a:pPr>
              <a:spcBef>
                <a:spcPts val="800"/>
              </a:spcBef>
              <a:defRPr b="1" sz="1200">
                <a:solidFill>
                  <a:srgbClr val="0284C7"/>
                </a:solidFill>
              </a:defRPr>
            </a:pPr>
            <a:r>
              <a:t>💰 ราคาต่อชุด: ฿31,500 บาท  |  มูลค่าโครงการรวม (100 ชุด): ฿3,150,000 บาท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463040"/>
            <a:ext cx="350489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45920"/>
            <a:ext cx="313913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59669"/>
                </a:solidFill>
              </a:defRPr>
            </a:pPr>
            <a:r>
              <a:t>★ บริการเสริมพิเศษ (Add-on):</a:t>
            </a:r>
          </a:p>
          <a:p>
            <a:pPr>
              <a:spcAft>
                <a:spcPts val="1400"/>
              </a:spcAft>
              <a:defRPr sz="919">
                <a:solidFill>
                  <a:srgbClr val="0F172A"/>
                </a:solidFill>
              </a:defRPr>
            </a:pPr>
            <a:r>
              <a:t>หากต้องการให้ทีมวิศวกรเข้าติดตั้ง ยึดตู้ เดินท่อบายพาส และสอบเทียบหัววัดหน้างาน 100 จุด:</a:t>
            </a:r>
            <a:br/>
            <a:r>
              <a:t>➡️ +฿8,000 / จุด (รวม +฿800,000)</a:t>
            </a:r>
          </a:p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</a:defRPr>
            </a:pPr>
            <a:r>
              <a:t>💻 ทางเลือกซอฟต์แวร์ (100 จุด):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</a:defRPr>
            </a:pPr>
            <a:r>
              <a:t>• Option 1 (App+Telegram): ซื้อขาด ฿250k | รายปี ฿120k/ปี (แนะนำ)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</a:defRPr>
            </a:pPr>
            <a:r>
              <a:t>• Option 2 (Web กลาง 100 จุด): ซื้อขาด ฿450k | รายปี ฿240k/ปี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</a:defRPr>
            </a:pPr>
            <a:r>
              <a:t>• Option 3 (LINE OA): ซื้อขาด ฿600k | รายปี ฿360k/ปี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💧 สรุปภาพรวมข้อเสนอราคาทางการ (100 ชุด)</a:t>
            </a:r>
          </a:p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600"/>
              </a:spcAft>
              <a:defRPr sz="1350">
                <a:solidFill>
                  <a:srgbClr val="CBD5E1"/>
                </a:solidFill>
              </a:defRPr>
            </a:pPr>
            <a:r>
              <a:t>พร้อมส่งมอบอุปกรณ์สำเร็จรูปและระบบแดชบอร์ดครบวงจร (ไม่รวมติดตั้ง):</a:t>
            </a:r>
          </a:p>
          <a:p>
            <a:pPr>
              <a:spcAft>
                <a:spcPts val="2400"/>
              </a:spcAft>
              <a:defRPr sz="1100">
                <a:solidFill>
                  <a:srgbClr val="E2E8F0"/>
                </a:solidFill>
              </a:defRPr>
            </a:pPr>
            <a:r>
              <a:t>• ราคาเสนอขายต่อชุด (Supply Only): ฿31,500 บาท / ชุด</a:t>
            </a:r>
            <a:br/>
            <a:r>
              <a:t>• มูลค่าโครงการรวม (100 ชุด): ฿3,150,000 บาท (สามล้านหนึ่งแสนห้าหมื่นบาทถ้วน)</a:t>
            </a:r>
            <a:br/>
            <a:r>
              <a:t>• บริการเสริมติดตั้ง &amp; สอบเทียบหน้างาน (Optional Add-on): +฿8,000 บาท/จุด (รวม +฿800,000 บาท)</a:t>
            </a:r>
            <a:br/>
            <a:r>
              <a:t>• ซอฟต์แวร์แดชบอร์ด 100 จุด: Option 1 (App+Telegram) ฿250k | Option 2 (Web กลาง 100 จุด) ฿450k | Option 3 (LINE OA) ฿600k</a:t>
            </a:r>
          </a:p>
          <a:p>
            <a:pPr>
              <a:defRPr sz="1200" b="1">
                <a:solidFill>
                  <a:srgbClr val="2DD4BF"/>
                </a:solidFill>
              </a:defRPr>
            </a:pPr>
            <a:r>
              <a:t>📞 สนใจสอบถามข้อมูลเพิ่มเติมและขอใบเสนอราคา (Request for Quotation):</a:t>
            </a:r>
            <a:br/>
            <a:r>
              <a:t>• Email: sales@nct-water.com  |  Tel: 02-XXX-XXXX, 08X-XXX-XXXX  |  Line: @nctwater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