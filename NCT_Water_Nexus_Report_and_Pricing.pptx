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1887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DD4BF"/>
                </a:solidFill>
              </a:defRPr>
            </a:pPr>
            <a:r>
              <a:t>💧 โครงการระบบตรวจวัดคุณภาพน้ำอัจฉริยะ 100 ชุด (Modela + Cybertice)</a:t>
            </a:r>
          </a:p>
          <a:p>
            <a:pPr>
              <a:spcAft>
                <a:spcPts val="600"/>
              </a:spcAft>
              <a:defRPr sz="3600" b="1">
                <a:solidFill>
                  <a:srgbClr val="FFFFFF"/>
                </a:solidFill>
              </a:defRPr>
            </a:pPr>
            <a:r>
              <a:t>NCT WATER NEXUS PRO</a:t>
            </a:r>
          </a:p>
          <a:p>
            <a:pPr>
              <a:spcAft>
                <a:spcPts val="1800"/>
              </a:spcAft>
              <a:defRPr sz="1800">
                <a:solidFill>
                  <a:srgbClr val="CBD5E1"/>
                </a:solidFill>
              </a:defRPr>
            </a:pPr>
            <a:r>
              <a:t>สรุปรายการต้นทุน (BOM) และราคาขายโครงการตรวจวัดคุณภาพน้ำ (100 ชุด)</a:t>
            </a:r>
          </a:p>
          <a:p>
            <a:pPr>
              <a:spcAft>
                <a:spcPts val="2800"/>
              </a:spcAft>
              <a:defRPr sz="1200">
                <a:solidFill>
                  <a:srgbClr val="94A3B8"/>
                </a:solidFill>
              </a:defRPr>
            </a:pPr>
            <a:r>
              <a:t>• ตรวจวัด 4 ค่าหลัก: pH / TDS / อุณหภูมิ / คลอรีนคงเหลือ (Modela One + Cybertice)</a:t>
            </a:r>
            <a:br/>
            <a:r>
              <a:t>• ต้นทุนฮาร์ดแวร์ตู้คอนโทรล: ฿21,000 / ชุด (โครงการ 100 ชุด = ฿2,100,000)</a:t>
            </a:r>
            <a:br/>
            <a:r>
              <a:t>• 2 รูปแบบข้อเสนอราคา: 【 แบบที่ 1 Plug &amp; Play (2.95 - 3.20 ล้าน) 】 vs 【 แบบที่ 2 Turnkey (3.80 - 4.20 ล้าน) 】</a:t>
            </a:r>
          </a:p>
          <a:p>
            <a:pPr>
              <a:defRPr sz="1100">
                <a:solidFill>
                  <a:srgbClr val="2DD4BF"/>
                </a:solidFill>
              </a:defRPr>
            </a:pPr>
            <a:r>
              <a:t>NCT Water Solutions  •  System Version 2.5 Pro  •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284C7"/>
                </a:solidFill>
              </a:defRPr>
            </a:pPr>
            <a:r>
              <a:t>โครงการระบบตรวจวัดคุณภาพน้ำ 100 ชุด (NCT WATER NEXUS)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1. ตารางต้นทุนฮาร์ดแวร์และอุปกรณ์ต่อชุด (BOM per Unit)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468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0972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36192"/>
            <a:ext cx="22494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ชุดเซนเซอร์หลัก (Modela One + pH/TDS/Temp + คลอรีน Cybertice)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฿17,000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224942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64748B"/>
                </a:solidFill>
              </a:defRPr>
            </a:pPr>
            <a:r>
              <a:t>• บอร์ดควบคุมหลัก Modela One (Modbus RTU/RS-485)</a:t>
            </a:r>
            <a:br/>
            <a:r>
              <a:t>• หัววัด pH แก้วอุตสาหกรรม (±0.01 pH)</a:t>
            </a:r>
            <a:br/>
            <a:r>
              <a:t>• หัววัด TDS / EC Titanium Dual-Pole</a:t>
            </a:r>
            <a:br/>
            <a:r>
              <a:t>• หัววัดอุณหภูมิ PT1000 (พร้อม ATC ชดเชยอุณหภูมิ)</a:t>
            </a:r>
            <a:br/>
            <a:r>
              <a:t>• เซนเซอร์คลอรีนคงเหลือ Cybertice (Residual Chlorine)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468880" cy="10972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536192"/>
            <a:ext cx="22494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4G LTE Router (TP-Link TL-MR100)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฿1,000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651760"/>
            <a:ext cx="224942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64748B"/>
                </a:solidFill>
              </a:defRPr>
            </a:pPr>
            <a:r>
              <a:t>• เราเตอร์ 4G LTE Wi-Fi ความเร็ว 300 Mbps</a:t>
            </a:r>
            <a:br/>
            <a:r>
              <a:t>• เสารับสัญญาณภายนอก 2 เสา สัญญาณนิ่งเสถียร</a:t>
            </a:r>
            <a:br/>
            <a:r>
              <a:t>• เชื่อมต่อระบบ Telemetry สดทุก 1 วินาที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468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468880" cy="10972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536192"/>
            <a:ext cx="22494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ซิมการ์ด 4G รายปี (Unlimited 15-20 Mbps)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฿1,800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651760"/>
            <a:ext cx="224942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64748B"/>
                </a:solidFill>
              </a:defRPr>
            </a:pPr>
            <a:r>
              <a:t>• ซิมเน็ต IoT รายปี ไม่อั้น ไม่ลดสปีด (15-20 Mbps)</a:t>
            </a:r>
            <a:br/>
            <a:r>
              <a:t>• รวมค่าบริการเครือข่าย 12 เดือนเต็ม</a:t>
            </a:r>
            <a:br/>
            <a:r>
              <a:t>• ส่งข้อมูลขึ้นระบบคลาวด์และแจ้งเตือน 24 ชม.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463040"/>
            <a:ext cx="24688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0" y="1463040"/>
            <a:ext cx="24688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1536192"/>
            <a:ext cx="22494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ตู้คอนโทรล IP65 + Switching 24V + Breaker + Wiring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฿1,200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2651760"/>
            <a:ext cx="224942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64748B"/>
                </a:solidFill>
              </a:defRPr>
            </a:pPr>
            <a:r>
              <a:t>• ตู้กันน้ำกันฝุ่นมาตรฐาน IP65</a:t>
            </a:r>
            <a:br/>
            <a:r>
              <a:t>• แหล่งจ่ายไฟ Switching Power Supply 24V</a:t>
            </a:r>
            <a:br/>
            <a:r>
              <a:t>• Breaker ป้องกันไฟเกิน + Terminal + สายไฟประกอบครบ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10728655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7492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DD4BF"/>
                </a:solidFill>
              </a:defRPr>
            </a:pPr>
            <a:r>
              <a:t>➡️ รวมต้นทุนต่อชุด: ฿21,000 บาท  |  รวมต้นทุนโครงการ (100 ชุด): ฿2,100,000 บาท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ต้นทุนนี้ครอบคลุมชุดหัววัดเซนเซอร์ 4 ค่า (pH / TDS / Temp / Cl) + กล่อง Modela One + เราเตอร์ 4G TP-Link + ซิมรายปี + ตู้ IP65 ประกอบสำเร็จพร้อมใช้งาน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284C7"/>
                </a:solidFill>
              </a:defRPr>
            </a:pPr>
            <a:r>
              <a:t>โครงการระบบตรวจวัดคุณภาพน้ำ 100 ชุด (NCT WATER NEXUS)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2. โครงสร้างราคาขายแนะนำ (แพ็กเกจ 100 ชุด รวม App + Web Dashboard)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11887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[แบบที่ 1] ส่งมอบอุปกรณ์พร้อมระบบออนไลน์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Plug &amp; Play / Supply Only (ราคา ฿29,500 - ฿32,000 / ชุด)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📋 ขอบเขตงาน (Scope of Work):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</a:defRPr>
            </a:pPr>
            <a:r>
              <a:t>✔ ประกอบตู้คอนโทรลสำเร็จรูป พร้อมเดินระบบไฟภายใน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</a:defRPr>
            </a:pPr>
            <a:r>
              <a:t>✔ ใส่ซิมรายปีและตั้งค่าเชื่อมต่อเน็ตเวิร์ก 4G LTE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</a:defRPr>
            </a:pPr>
            <a:r>
              <a:t>✔ เชื่อมต่อ Modbus อ่านค่า pH, TDS, Temp, Chlorine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</a:defRPr>
            </a:pPr>
            <a:r>
              <a:t>✔ ตั้งค่าระบบ Modela App สำหรับดูข้อมูลและแจ้งเตือนผ่านมือถือ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</a:defRPr>
            </a:pPr>
            <a:r>
              <a:t>✔ จัดทำ Web Dashboard กลางรวมข้อมูลทั้ง 100 จุด</a:t>
            </a:r>
          </a:p>
          <a:p>
            <a:pPr>
              <a:spcBef>
                <a:spcPts val="800"/>
              </a:spcBef>
              <a:defRPr b="1" sz="1000">
                <a:solidFill>
                  <a:srgbClr val="0284C7"/>
                </a:solidFill>
              </a:defRPr>
            </a:pPr>
            <a:r>
              <a:t>💰 มูลค่าโครงการรวม (100 ชุด): ฿2,950,000 - ฿3,200,000 บาท</a:t>
            </a:r>
            <a:br/>
            <a:r>
              <a:t>📈 กำไรขั้นต้นโดยประมาณ: ฿850,000 - ฿1,100,000 บาท (Margin ~29-34%)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11887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[แบบที่ 2] แบบครบวงจร รวมติดตั้งหน้างาน + สอบเทียบ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Turnkey Solution (ราคา ฿38,000 - ฿42,000 / ชุด)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📋 ขอบเขตงาน (Scope of Work):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</a:defRPr>
            </a:pPr>
            <a:r>
              <a:t>✔ ทุกอย่างในแบบที่ 1 (ตู้ + ซิม + Modbus + App + Web Dashboard)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</a:defRPr>
            </a:pPr>
            <a:r>
              <a:t>✔ ค่าแรงและทีมงานเข้าติดตั้งยึดตู้ / เดินท่อบายพาสหน้างาน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</a:defRPr>
            </a:pPr>
            <a:r>
              <a:t>✔ สอบเทียบ (Calibration) หัววัด pH / TDS ด้วยน้ำยามาตรฐานหน้างาน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</a:defRPr>
            </a:pPr>
            <a:r>
              <a:t>✔ อบรมการใช้งานระบบและส่งมอบคู่มือการปฏิบัติงาน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</a:defRPr>
            </a:pPr>
            <a:r>
              <a:t>✔ รับประกันระบบและบริการ On-site Service ตลอด 1 ปีเต็ม</a:t>
            </a:r>
          </a:p>
          <a:p>
            <a:pPr>
              <a:spcBef>
                <a:spcPts val="800"/>
              </a:spcBef>
              <a:defRPr b="1" sz="1000">
                <a:solidFill>
                  <a:srgbClr val="059669"/>
                </a:solidFill>
              </a:defRPr>
            </a:pPr>
            <a:r>
              <a:t>💰 มูลค่าโครงการรวม (100 ชุด): ฿3,800,000 - ฿4,200,000 บาท</a:t>
            </a:r>
            <a:br/>
            <a:r>
              <a:t>📈 กำไรขั้นต้นโดยประมาณ: ฿1,700,000 - ฿2,100,000 บาท (Margin ~45-50%)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284C7"/>
                </a:solidFill>
              </a:defRPr>
            </a:pPr>
            <a:r>
              <a:t>โครงการระบบตรวจวัดคุณภาพน้ำ 100 ชุด (NCT WATER NEXUS)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3. ราคาซอฟต์แวร์ Dashboard &amp; ระบบแจ้งเตือน (3 Option ทางเลือก)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12801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[ Option 1 ] ★ แนะนำ คุ้มค่าสูงสุด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แอปมือถือ + Telegram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284C7"/>
                </a:solidFill>
              </a:defRPr>
            </a:pPr>
            <a:r>
              <a:t>• แบบซื้อขาด: ฿250,000 (2,500 บ./จุด)</a:t>
            </a:r>
          </a:p>
          <a:p>
            <a:pPr>
              <a:spcAft>
                <a:spcPts val="600"/>
              </a:spcAft>
              <a:defRPr b="1" sz="1000">
                <a:solidFill>
                  <a:srgbClr val="059669"/>
                </a:solidFill>
              </a:defRPr>
            </a:pPr>
            <a:r>
              <a:t>• แบบรายปี: ฿170,000 (ปีแรก)</a:t>
            </a:r>
            <a:br/>
            <a:r>
              <a:t>  (ปีถัดไป ฿120,000 บ./ปี (1,200 บ./จุด/ปี))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</a:defRPr>
            </a:pPr>
            <a:r>
              <a:t>💡 จุดเด่น: แจ้งเตือนฟรีตลอดชีพ ไม่มีค่าส่งข้อความ</a:t>
            </a:r>
          </a:p>
          <a:p>
            <a:pPr>
              <a:spcAft>
                <a:spcPts val="200"/>
              </a:spcAft>
              <a:defRPr sz="880">
                <a:solidFill>
                  <a:srgbClr val="64748B"/>
                </a:solidFill>
              </a:defRPr>
            </a:pPr>
            <a:r>
              <a:t>✓ Modela App (iOS &amp; Android) สลับดู 100 จุด</a:t>
            </a:r>
          </a:p>
          <a:p>
            <a:pPr>
              <a:spcAft>
                <a:spcPts val="200"/>
              </a:spcAft>
              <a:defRPr sz="880">
                <a:solidFill>
                  <a:srgbClr val="64748B"/>
                </a:solidFill>
              </a:defRPr>
            </a:pPr>
            <a:r>
              <a:t>✓ แจ้งเตือนผ่าน Telegram Bot แบบกลุ่ม/เดี่ยว</a:t>
            </a:r>
          </a:p>
          <a:p>
            <a:pPr>
              <a:spcAft>
                <a:spcPts val="200"/>
              </a:spcAft>
              <a:defRPr sz="880">
                <a:solidFill>
                  <a:srgbClr val="64748B"/>
                </a:solidFill>
              </a:defRPr>
            </a:pPr>
            <a:r>
              <a:t>✓ ส่งข้อความเตือนฟรี 100% ไม่จำกัดจำนวนครั้ง</a:t>
            </a:r>
          </a:p>
          <a:p>
            <a:pPr>
              <a:spcAft>
                <a:spcPts val="200"/>
              </a:spcAft>
              <a:defRPr sz="880">
                <a:solidFill>
                  <a:srgbClr val="64748B"/>
                </a:solidFill>
              </a:defRPr>
            </a:pPr>
            <a:r>
              <a:t>✓ ไม่มีต้นทุนแฝง กำไรเต็มเม็ดเต็มหน่วย</a:t>
            </a:r>
          </a:p>
          <a:p>
            <a:pPr>
              <a:spcAft>
                <a:spcPts val="200"/>
              </a:spcAft>
              <a:defRPr sz="880">
                <a:solidFill>
                  <a:srgbClr val="64748B"/>
                </a:solidFill>
              </a:defRPr>
            </a:pPr>
            <a:r>
              <a:t>✓ ฟรี Support / แก้บั๊ก 1 ปีแรก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12801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[ Option 2 ] สำหรับห้องควบคุม SCADA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เว็บกลาง 100 จุด + Telegram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3464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284C7"/>
                </a:solidFill>
              </a:defRPr>
            </a:pPr>
            <a:r>
              <a:t>• แบบซื้อขาด: ฿450,000 (4,500 บ./จุด)</a:t>
            </a:r>
          </a:p>
          <a:p>
            <a:pPr>
              <a:spcAft>
                <a:spcPts val="600"/>
              </a:spcAft>
              <a:defRPr b="1" sz="1000">
                <a:solidFill>
                  <a:srgbClr val="059669"/>
                </a:solidFill>
              </a:defRPr>
            </a:pPr>
            <a:r>
              <a:t>• แบบรายปี: ฿340,000 (ปีแรก)</a:t>
            </a:r>
            <a:br/>
            <a:r>
              <a:t>  (ปีถัดไป ฿240,000 บ./ปี (2,400 บ./จุด/ปี))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</a:defRPr>
            </a:pPr>
            <a:r>
              <a:t>💡 จุดเด่น: ดูภาพรวมและตารางสรุปทั้ง 100 จุดในจอเดียว</a:t>
            </a:r>
          </a:p>
          <a:p>
            <a:pPr>
              <a:spcAft>
                <a:spcPts val="200"/>
              </a:spcAft>
              <a:defRPr sz="880">
                <a:solidFill>
                  <a:srgbClr val="64748B"/>
                </a:solidFill>
              </a:defRPr>
            </a:pPr>
            <a:r>
              <a:t>✓ Centralized Web SCADA Dashboard 100 จุด</a:t>
            </a:r>
          </a:p>
          <a:p>
            <a:pPr>
              <a:spcAft>
                <a:spcPts val="200"/>
              </a:spcAft>
              <a:defRPr sz="880">
                <a:solidFill>
                  <a:srgbClr val="64748B"/>
                </a:solidFill>
              </a:defRPr>
            </a:pPr>
            <a:r>
              <a:t>✓ แผนที่ GIS Map &amp; ตารางสรุปสถานะ Real-Time</a:t>
            </a:r>
          </a:p>
          <a:p>
            <a:pPr>
              <a:spcAft>
                <a:spcPts val="200"/>
              </a:spcAft>
              <a:defRPr sz="880">
                <a:solidFill>
                  <a:srgbClr val="64748B"/>
                </a:solidFill>
              </a:defRPr>
            </a:pPr>
            <a:r>
              <a:t>✓ กราฟวิเคราะห์แนวโน้ม Multi-Axis 100 สถานี</a:t>
            </a:r>
          </a:p>
          <a:p>
            <a:pPr>
              <a:spcAft>
                <a:spcPts val="200"/>
              </a:spcAft>
              <a:defRPr sz="880">
                <a:solidFill>
                  <a:srgbClr val="64748B"/>
                </a:solidFill>
              </a:defRPr>
            </a:pPr>
            <a:r>
              <a:t>✓ แจ้งเตือนผ่าน Telegram Bot ทันทีเมื่อผิดปกติ</a:t>
            </a:r>
          </a:p>
          <a:p>
            <a:pPr>
              <a:spcAft>
                <a:spcPts val="200"/>
              </a:spcAft>
              <a:defRPr sz="880">
                <a:solidFill>
                  <a:srgbClr val="64748B"/>
                </a:solidFill>
              </a:defRPr>
            </a:pPr>
            <a:r>
              <a:t>✓ Export รายงาน Excel / PDF ย้อนหลังได้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54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DD4BF"/>
                </a:solidFill>
              </a:defRPr>
            </a:pPr>
            <a:r>
              <a:t>[ Option 3 ] ครบวงจร + แจ้งเตือน LINE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เว็บกลาง + แอป + LINE OA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83464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284C7"/>
                </a:solidFill>
              </a:defRPr>
            </a:pPr>
            <a:r>
              <a:t>• แบบซื้อขาด: ฿600,000 (6,000 บ./จุด)</a:t>
            </a:r>
          </a:p>
          <a:p>
            <a:pPr>
              <a:spcAft>
                <a:spcPts val="600"/>
              </a:spcAft>
              <a:defRPr b="1" sz="1000">
                <a:solidFill>
                  <a:srgbClr val="059669"/>
                </a:solidFill>
              </a:defRPr>
            </a:pPr>
            <a:r>
              <a:t>• แบบรายปี: ฿510,000 (ปีแรก)</a:t>
            </a:r>
            <a:br/>
            <a:r>
              <a:t>  (ปีถัดไป ฿360,000 บ./ปี (3,600 บ./จุด/ปี))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</a:defRPr>
            </a:pPr>
            <a:r>
              <a:t>💡 จุดเด่น: LINE มีค่าแพ็กเกจส่งข้อความรายเดือนเพิ่มเติม</a:t>
            </a:r>
          </a:p>
          <a:p>
            <a:pPr>
              <a:spcAft>
                <a:spcPts val="200"/>
              </a:spcAft>
              <a:defRPr sz="880">
                <a:solidFill>
                  <a:srgbClr val="64748B"/>
                </a:solidFill>
              </a:defRPr>
            </a:pPr>
            <a:r>
              <a:t>✓ ได้ทั้ง Web SCADA + Modela App ครบชุด</a:t>
            </a:r>
          </a:p>
          <a:p>
            <a:pPr>
              <a:spcAft>
                <a:spcPts val="200"/>
              </a:spcAft>
              <a:defRPr sz="880">
                <a:solidFill>
                  <a:srgbClr val="64748B"/>
                </a:solidFill>
              </a:defRPr>
            </a:pPr>
            <a:r>
              <a:t>✓ แจ้งเตือนผ่าน LINE Official Account (LINE OA)</a:t>
            </a:r>
          </a:p>
          <a:p>
            <a:pPr>
              <a:spcAft>
                <a:spcPts val="200"/>
              </a:spcAft>
              <a:defRPr sz="880">
                <a:solidFill>
                  <a:srgbClr val="64748B"/>
                </a:solidFill>
              </a:defRPr>
            </a:pPr>
            <a:r>
              <a:t>✓ ส่งการ์ดแจ้งเตือนพร้อมสีสถานะและปุ่มกดดูสด</a:t>
            </a:r>
          </a:p>
          <a:p>
            <a:pPr>
              <a:spcAft>
                <a:spcPts val="200"/>
              </a:spcAft>
              <a:defRPr sz="880">
                <a:solidFill>
                  <a:srgbClr val="64748B"/>
                </a:solidFill>
              </a:defRPr>
            </a:pPr>
            <a:r>
              <a:t>✓ +฿1,500/จุด เพื่อซัพพอร์ตค่า Broadcast ของ LINE</a:t>
            </a:r>
          </a:p>
          <a:p>
            <a:pPr>
              <a:spcAft>
                <a:spcPts val="200"/>
              </a:spcAft>
              <a:defRPr sz="880">
                <a:solidFill>
                  <a:srgbClr val="64748B"/>
                </a:solidFill>
              </a:defRPr>
            </a:pPr>
            <a:r>
              <a:t>✓ สัญญาบริการระดับพรีเมียม 24/7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284C7"/>
                </a:solidFill>
              </a:defRPr>
            </a:pPr>
            <a:r>
              <a:t>โครงการระบบตรวจวัดคุณภาพน้ำ 100 ชุด (NCT WATER NEXUS)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4. ตัวอย่างข้อความแจ้งเตือนเมื่อพบค่าผิดปกติ (Telegram vs LINE OA)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284C7"/>
                </a:solidFill>
              </a:defRPr>
            </a:pPr>
            <a:r>
              <a:t>✈️ รูปแบบ Telegram Alert (ส่งฟรี &amp; ไวมาก)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🚨 แจ้งเตือนคุณภาพน้ำผิดปกติ</a:t>
            </a:r>
            <a:br/>
            <a:r>
              <a:t>📍 จุดติดตั้ง: บ่อพักน้ำ #04 (ตู้ 1004)</a:t>
            </a:r>
            <a:br/>
            <a:r>
              <a:t>⏰ เวลา: 14:15 น.</a:t>
            </a:r>
            <a:br/>
            <a:r>
              <a:t>━━━━━━━━━━━━━━━━━━━━</a:t>
            </a:r>
            <a:br/>
            <a:r>
              <a:t>• คลอรีน: 0.15 mg/L ❌ (เกณฑ์ 0.20-2.00)</a:t>
            </a:r>
            <a:br/>
            <a:r>
              <a:t>• pH: 6.4 ❌ (เกณฑ์ 6.5-8.5)</a:t>
            </a:r>
            <a:br/>
            <a:r>
              <a:t>• TDS: 185 ppm (ปกติ)</a:t>
            </a:r>
            <a:br/>
            <a:r>
              <a:t>• อุณหภูมิ: 28.5 °C (ปกติ)</a:t>
            </a:r>
            <a:br/>
            <a:r>
              <a:t>━━━━━━━━━━━━━━━━━━━━</a:t>
            </a:r>
            <a:br/>
            <a:r>
              <a:t>🔗 ดูกราฟย้อนหลัง: https://water-iot.com/node/1004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✔ จุดเด่น: ส่งฟรี 100% ไม่มีค่า Broadcast รายเดือน กำไรเต็มเม็ดเต็มหน่วย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6916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59669"/>
                </a:solidFill>
              </a:defRPr>
            </a:pPr>
            <a:r>
              <a:t>💬 รูปแบบ LINE OA Alert (การ์ดสถานะยอดนิยม)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</a:defRPr>
            </a:pPr>
            <a:r>
              <a:t>🚨 [CRITICAL] คุณภาพน้ำหลุดเกณฑ์</a:t>
            </a:r>
            <a:br/>
            <a:r>
              <a:t>📍 สถานี: บ่อจ่ายน้ำเขตเหนือ</a:t>
            </a:r>
            <a:br/>
            <a:r>
              <a:t>━━━━━━━━━━━━━━━━━━━━</a:t>
            </a:r>
            <a:br/>
            <a:r>
              <a:t>• คลอรีน: 0.12 mg/L ⚠️ (ต่ำกว่าเกณฑ์)</a:t>
            </a:r>
            <a:br/>
            <a:r>
              <a:t>• ค่า pH: 6.30 ⚠️ (ต่ำกว่าเกณฑ์)</a:t>
            </a:r>
            <a:br/>
            <a:r>
              <a:t>• ค่า TDS: 190 ppm (ปกติ)</a:t>
            </a:r>
            <a:br/>
            <a:r>
              <a:t>• อุณหภูมิ: 29.0 °C (ปกติ)</a:t>
            </a:r>
            <a:br/>
            <a:r>
              <a:t>━━━━━━━━━━━━━━━━━━━━</a:t>
            </a:r>
            <a:br/>
            <a:r>
              <a:t>👉 [เปิด Dashboard ดูข้อมูลสด]</a:t>
            </a:r>
          </a:p>
          <a:p>
            <a:pPr>
              <a:defRPr sz="950" b="1">
                <a:solidFill>
                  <a:srgbClr val="0284C7"/>
                </a:solidFill>
              </a:defRPr>
            </a:pPr>
            <a:r>
              <a:t>✔ จุดเด่น: ใช้งานง่ายในกลุ่มไลน์ผู้บริหาร (+฿1,500/จุด เพื่อซับพอร์ตค่า Broadcast LINE)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284C7"/>
                </a:solidFill>
              </a:defRPr>
            </a:pPr>
            <a:r>
              <a:t>โครงการระบบตรวจวัดคุณภาพน้ำ 100 ชุด (NCT WATER NEXUS)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5. วิเคราะห์จุดแข็ง-จุดเสี่ยงโมเดลราคา (Strategic Margin Analysis)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059669"/>
                </a:solidFill>
              </a:defRPr>
            </a:pPr>
            <a:r>
              <a:t>🔄 ฝั่งรายปี (ดีมาก แนะนำให้ผลักดันลูกค้ารูปแบบนี้)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ตัวเลข 1,200 – 3,600 บาท/จุด/ปี: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ตกเดือนละ 100–300 บาท/ตู้ เป็นราคาที่ลูกค้าองค์กร/โรงงาน/เทศบาล จ่ายได้ง่ายมาก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Recurring Income ก้อนโตทุกปี: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มีรายรับสม่ำเสมอ 120,000 – 360,000 บาททุกปี ไว้เป็นค่า Cloud Server, ค่าซ่อมบำรุง และกำไรต่อเนื่อง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ล็อกฐานลูกค้าได้ยาวนาน: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ลูกค้าไม่ต้องกังวลเรื่องการดูแล เราดูแลซ่อมบำรุงและอัปเดตระบบให้ 100%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6916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0284C7"/>
                </a:solidFill>
              </a:defRPr>
            </a:pPr>
            <a:r>
              <a:t>🏷️ ฝั่งซื้อขาด (ตัวเลขผ่าน แต่ต้องล็อคขอบเขตให้ชัด)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ราคาเฉลี่ย 2,500 – 6,000 บาท/จุด: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ยอดรวม 2.5 – 6 แสนบาท ลูกค้าไม่รู้สึกว่าแพงเกินไปสำหรับระบบ 100 จุด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จุดที่ต้องระวัง: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ซื้อขาดแปลว่าคุณต้องแบกค่า Host/Database เองในอนาคต หรือต้องส่งมอบ Source Code ให้ลูกค้ารัน Server เอง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เงื่อนไขสัญญาป้องกันต้นทุน (MA):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ควรกำหนดในสัญญาว่า ฟรี Support/แก้บั๊ก 1 ปีแรกเท่านั้น ปีถัดไปคิดสัญญา MA แยก 10–15% ต่อปี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284C7"/>
                </a:solidFill>
              </a:defRPr>
            </a:pPr>
            <a:r>
              <a:t>โครงการระบบตรวจวัดคุณภาพน้ำ 100 ชุด (NCT WATER NEXUS)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6. ระบบแดชบอร์ด SCADA และ Mobile Companion App (Software Platform)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284C7"/>
                </a:solidFill>
              </a:defRPr>
            </a:pPr>
            <a:r>
              <a:t>💻 1. Centralized SCADA Widescreen View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GIS Map &amp; 100-Node Grid Overview: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แสดงตำแหน่งและสถานะของทั้ง 100 สถานีบนแผนที่ GIS ตรวจเช็คจุดผิดปกติได้ทันที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High-Frequency Telemetry Trends: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กราฟ Real-Time Dynamic Charts วิเคราะห์แนวโน้มคุณภาพน้ำของแต่ละสถานี 24 ชม.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Zone Alert Management: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ระบบแยกกลุ่มโซนการแจ้งเตือนตามพื้นที่ (เช่น โซนอาคาร A, โซนโรงงาน 1-4)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Automated Compliance Reports: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สร้างรายงานสรุปเปรียบเทียบ 100 จุดอัตโนมัติ ส่งออกเป็น Excel / PDF ในคลิกเดียว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6916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59669"/>
                </a:solidFill>
              </a:defRPr>
            </a:pPr>
            <a:r>
              <a:t>📱 2. Multi-Station Mobile Companion App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100-Device Hub Selector: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สลับดูข้อมูลสถานีตรวจวัดน้ำทั้ง 100 จุดได้ง่ายดายในแอปเดียว (ค้นหาตามชื่อ/โซน)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Instant Push Notification &amp; Line Alert: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แจ้งเตือนข้อความฉุกเฉินทันทีเมื่อมีจุดใดจุดหนึ่งใน 100 จุดหลุดเกณฑ์มาตรฐาน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Color-Coded Status Cards: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แสดงสถานะด้วยสีเขียว/เหลือง/แดง ชัดเจน รู้ทันทีว่าจุดไหนปกติดีหรือต้องตรวจเช็ค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Offline Battery &amp; Link Monitor: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ตรวจสอบสัญญาณ WiFi/4G และระดับแบตเตอรี่สำรองของทุกตู้ได้จากระยะไกล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1887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DD4BF"/>
                </a:solidFill>
              </a:defRPr>
            </a:pPr>
            <a:r>
              <a:t>💧 สรุปภาพรวมข้อเสนอราคาโครงการตรวจวัดคุณภาพน้ำ 100 ชุด</a:t>
            </a:r>
          </a:p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NCT WATER NEXUS PRO</a:t>
            </a:r>
          </a:p>
          <a:p>
            <a:pPr>
              <a:spcAft>
                <a:spcPts val="1600"/>
              </a:spcAft>
              <a:defRPr sz="1350">
                <a:solidFill>
                  <a:srgbClr val="CBD5E1"/>
                </a:solidFill>
              </a:defRPr>
            </a:pPr>
            <a:r>
              <a:t>พร้อมส่งมอบอุปกรณ์และระบบแดชบอร์ดครบวงจรตามขอบเขตที่ลูกค้าเลือก:</a:t>
            </a:r>
          </a:p>
          <a:p>
            <a:pPr>
              <a:spcAft>
                <a:spcPts val="2400"/>
              </a:spcAft>
              <a:defRPr sz="1100">
                <a:solidFill>
                  <a:srgbClr val="E2E8F0"/>
                </a:solidFill>
              </a:defRPr>
            </a:pPr>
            <a:r>
              <a:t>• รวมต้นทุนต่อชุด: 21,000 บาท (100 ชุด = 2,100,000 บาท)</a:t>
            </a:r>
            <a:br/>
            <a:r>
              <a:t>• [แบบที่ 1 Plug &amp; Play]: 29,500 - 32,000 บ./ชุด (รวม 2.95 - 3.20 ล้าน | กำไร 8.5 แสน - 1.1 ล้าน)</a:t>
            </a:r>
            <a:br/>
            <a:r>
              <a:t>• [แบบที่ 2 Turnkey]: 38,000 - 42,000 บ./ชุด (รวม 3.80 - 4.20 ล้าน | กำไร 1.7 - 2.1 ล้าน)</a:t>
            </a:r>
            <a:br/>
            <a:r>
              <a:t>• ซอฟต์แวร์แดชบอร์ด 100 จุด: ซื้อขาด 2.5 - 6.0 แสน | รายปี 1.2 - 3.6 แสน/ปี (Recurring Income)</a:t>
            </a:r>
          </a:p>
          <a:p>
            <a:pPr>
              <a:defRPr sz="1200" b="1">
                <a:solidFill>
                  <a:srgbClr val="2DD4BF"/>
                </a:solidFill>
              </a:defRPr>
            </a:pPr>
            <a:r>
              <a:t>📞 สนใจสอบถามข้อมูลเพิ่มเติมและขอใบเสนอราคา (Request for Quotation):</a:t>
            </a:r>
            <a:br/>
            <a:r>
              <a:t>• Email: sales@nct-water.com  |  Tel: 02-XXX-XXXX, 08X-XXX-XXXX  |  Line: @nctwater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