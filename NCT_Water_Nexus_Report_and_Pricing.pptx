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2DD4BF"/>
                </a:solidFill>
              </a:defRPr>
            </a:pPr>
            <a:r>
              <a:t>💧 โครงการระบบตรวจวัดคุณภาพน้ำอัจฉริยะ 100 ชุด (Modela + Cybertice)</a:t>
            </a:r>
          </a:p>
          <a:p>
            <a:pPr>
              <a:spcAft>
                <a:spcPts val="600"/>
              </a:spcAft>
              <a:defRPr sz="3600" b="1">
                <a:solidFill>
                  <a:srgbClr val="FFFFFF"/>
                </a:solidFill>
              </a:defRPr>
            </a:pPr>
            <a:r>
              <a:t>NCT WATER NEXUS PRO</a:t>
            </a:r>
          </a:p>
          <a:p>
            <a:pPr>
              <a:spcAft>
                <a:spcPts val="1800"/>
              </a:spcAft>
              <a:defRPr sz="1800">
                <a:solidFill>
                  <a:srgbClr val="CBD5E1"/>
                </a:solidFill>
              </a:defRPr>
            </a:pPr>
            <a:r>
              <a:t>สรุปรายการต้นทุน (BOM) และราคาขายโครงการตรวจวัดคุณภาพน้ำ (100 ชุด)</a:t>
            </a:r>
          </a:p>
          <a:p>
            <a:pPr>
              <a:spcAft>
                <a:spcPts val="2800"/>
              </a:spcAft>
              <a:defRPr sz="1200">
                <a:solidFill>
                  <a:srgbClr val="94A3B8"/>
                </a:solidFill>
              </a:defRPr>
            </a:pPr>
            <a:r>
              <a:t>• ตรวจวัด 4 ค่าหลัก: pH / TDS / อุณหภูมิ / คลอรีนคงเหลือ (Modela One + Cybertice)</a:t>
            </a:r>
            <a:br/>
            <a:r>
              <a:t>• ต้นทุนฮาร์ดแวร์ตู้คอนโทรล: ฿21,000 / ชุด (โครงการ 100 ชุด = ฿2,100,000)</a:t>
            </a:r>
            <a:br/>
            <a:r>
              <a:t>• 2 รูปแบบข้อเสนอราคา: 【 แบบที่ 1 Plug &amp; Play (2.95 - 3.20 ล้าน) 】 vs 【 แบบที่ 2 Turnkey (3.80 - 4.20 ล้าน) 】</a:t>
            </a:r>
          </a:p>
          <a:p>
            <a:pPr>
              <a:defRPr sz="1100">
                <a:solidFill>
                  <a:srgbClr val="2DD4BF"/>
                </a:solidFill>
              </a:defRPr>
            </a:pPr>
            <a:r>
              <a:t>NCT Water Solutions  •  System Version 2.5 Pro  •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1. ตารางต้นทุนฮาร์ดแวร์และอุปกรณ์ต่อชุด (BOM per Unit)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68880" cy="109728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ชุดเซนเซอร์หลัก (Modela One + pH/TDS/Temp + คลอรีน Cybertice)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฿17,000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บอร์ดควบคุมหลัก Modela One (Modbus RTU/RS-485)</a:t>
            </a:r>
            <a:br/>
            <a:r>
              <a:t>• หัววัด pH แก้วอุตสาหกรรม (±0.01 pH)</a:t>
            </a:r>
            <a:br/>
            <a:r>
              <a:t>• หัววัด TDS / EC Titanium Dual-Pole</a:t>
            </a:r>
            <a:br/>
            <a:r>
              <a:t>• หัววัดอุณหภูมิ PT1000 (พร้อม ATC ชดเชยอุณหภูมิ)</a:t>
            </a:r>
            <a:br/>
            <a:r>
              <a:t>• เซนเซอร์คลอรีนคงเหลือ Cybertice (Residual Chlorine)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1463040"/>
            <a:ext cx="2468880" cy="109728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844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4G LTE Router (TP-Link TL-MR100)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฿1,000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844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เราเตอร์ 4G LTE Wi-Fi ความเร็ว 300 Mbps</a:t>
            </a:r>
            <a:br/>
            <a:r>
              <a:t>• เสารับสัญญาณภายนอก 2 เสา สัญญาณนิ่งเสถียร</a:t>
            </a:r>
            <a:br/>
            <a:r>
              <a:t>• เชื่อมต่อระบบ Telemetry สดทุก 1 วินาที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463040"/>
            <a:ext cx="2468880" cy="109728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ซิมการ์ด 4G รายปี (Unlimited 15-20 Mbps)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฿1,800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ซิมเน็ต IoT รายปี ไม่อั้น ไม่ลดสปีด (15-20 Mbps)</a:t>
            </a:r>
            <a:br/>
            <a:r>
              <a:t>• รวมค่าบริการเครือข่าย 12 เดือนเต็ม</a:t>
            </a:r>
            <a:br/>
            <a:r>
              <a:t>• ส่งข้อมูลขึ้นระบบคลาวด์และแจ้งเตือน 24 ชม.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20" y="1463040"/>
            <a:ext cx="24688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961120" y="1463040"/>
            <a:ext cx="2468880" cy="109728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0848" y="1536192"/>
            <a:ext cx="22494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ตู้คอนโทรล IP65 + Switching 24V + Breaker + Wiring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฿1,200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70848" y="2651760"/>
            <a:ext cx="22494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80">
                <a:solidFill>
                  <a:srgbClr val="64748B"/>
                </a:solidFill>
              </a:defRPr>
            </a:pPr>
            <a:r>
              <a:t>• ตู้กันน้ำกันฝุ่นมาตรฐาน IP65</a:t>
            </a:r>
            <a:br/>
            <a:r>
              <a:t>• แหล่งจ่ายไฟ Switching Power Supply 24V</a:t>
            </a:r>
            <a:br/>
            <a:r>
              <a:t>• Breaker ป้องกันไฟเกิน + Terminal + สายไฟประกอบครบ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937760"/>
            <a:ext cx="10728655" cy="137160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074920"/>
            <a:ext cx="10149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2DD4BF"/>
                </a:solidFill>
              </a:defRPr>
            </a:pPr>
            <a:r>
              <a:t>➡️ รวมต้นทุนต่อชุด: ฿21,000 บาท  |  รวมต้นทุนโครงการ (100 ชุด): ฿2,100,000 บาท</a:t>
            </a:r>
          </a:p>
          <a:p>
            <a:pPr>
              <a:defRPr sz="1000">
                <a:solidFill>
                  <a:srgbClr val="E2E8F0"/>
                </a:solidFill>
              </a:defRPr>
            </a:pPr>
            <a:r>
              <a:t>ต้นทุนนี้ครอบคลุมชุดหัววัดเซนเซอร์ 4 ค่า (pH / TDS / Temp / Cl) + กล่อง Modela One + เราเตอร์ 4G TP-Link + ซิมรายปี + ตู้ IP65 ประกอบสำเร็จพร้อมใช้งาน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2. โครงสร้างราคาขายแนะนำ (แพ็กเกจ 100 ชุด รวม App + Web Dashboard)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118872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[แบบที่ 1] ส่งมอบอุปกรณ์พร้อมระบบออนไลน์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Plug &amp; Play / Supply Only (ราคา ฿29,500 - ฿32,000 / ชุด)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📋 ขอบเขตงาน (Scope of Work):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ประกอบตู้คอนโทรลสำเร็จรูป พร้อมเดินระบบไฟภายใน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ใส่ซิมรายปีและตั้งค่าเชื่อมต่อเน็ตเวิร์ก 4G LTE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เชื่อมต่อ Modbus อ่านค่า pH, TDS, Temp, Chlorine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ตั้งค่าระบบ Modela App สำหรับดูข้อมูลและแจ้งเตือนผ่านมือถือ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จัดทำ Web Dashboard กลางรวมข้อมูลทั้ง 100 จุด</a:t>
            </a:r>
          </a:p>
          <a:p>
            <a:pPr>
              <a:spcBef>
                <a:spcPts val="800"/>
              </a:spcBef>
              <a:defRPr b="1" sz="1000">
                <a:solidFill>
                  <a:srgbClr val="0284C7"/>
                </a:solidFill>
              </a:defRPr>
            </a:pPr>
            <a:r>
              <a:t>💰 มูลค่าโครงการรวม (100 ชุด): ฿2,950,000 - ฿3,200,000 บาท</a:t>
            </a:r>
            <a:br/>
            <a:r>
              <a:t>📈 กำไรขั้นต้นโดยประมาณ: ฿850,000 - ฿1,100,000 บาท (Margin ~29-34%)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120640" cy="11887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5448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[แบบที่ 2] แบบครบวงจร รวมติดตั้งหน้างาน + สอบเทียบ</a:t>
            </a:r>
          </a:p>
          <a:p>
            <a:pPr>
              <a:defRPr sz="1100" b="1">
                <a:solidFill>
                  <a:srgbClr val="FFFFFF"/>
                </a:solidFill>
              </a:defRPr>
            </a:pPr>
            <a:r>
              <a:t>Turnkey Solution (ราคา ฿38,000 - ฿42,000 / ชุด)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7432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100">
                <a:solidFill>
                  <a:srgbClr val="0F172A"/>
                </a:solidFill>
              </a:defRPr>
            </a:pPr>
            <a:r>
              <a:t>📋 ขอบเขตงาน (Scope of Work):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ทุกอย่างในแบบที่ 1 (ตู้ + ซิม + Modbus + App + Web Dashboard)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ค่าแรงและทีมงานเข้าติดตั้งยึดตู้ / เดินท่อบายพาสหน้างาน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สอบเทียบ (Calibration) หัววัด pH / TDS ด้วยน้ำยามาตรฐานหน้างาน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อบรมการใช้งานระบบและส่งมอบคู่มือการปฏิบัติงาน</a:t>
            </a:r>
          </a:p>
          <a:p>
            <a:pPr>
              <a:spcAft>
                <a:spcPts val="200"/>
              </a:spcAft>
              <a:defRPr sz="950">
                <a:solidFill>
                  <a:srgbClr val="64748B"/>
                </a:solidFill>
              </a:defRPr>
            </a:pPr>
            <a:r>
              <a:t>✔ รับประกันระบบและบริการ On-site Service ตลอด 1 ปีเต็ม</a:t>
            </a:r>
          </a:p>
          <a:p>
            <a:pPr>
              <a:spcBef>
                <a:spcPts val="800"/>
              </a:spcBef>
              <a:defRPr b="1" sz="1000">
                <a:solidFill>
                  <a:srgbClr val="059669"/>
                </a:solidFill>
              </a:defRPr>
            </a:pPr>
            <a:r>
              <a:t>💰 มูลค่าโครงการรวม (100 ชุด): ฿3,800,000 - ฿4,200,000 บาท</a:t>
            </a:r>
            <a:br/>
            <a:r>
              <a:t>📈 กำไรขั้นต้นโดยประมาณ: ฿1,700,000 - ฿2,100,000 บาท (Margin ~45-50%)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3. ราคาซอฟต์แวร์ Dashboard &amp; ระบบแจ้งเตือน (3 Option ทางเลือก)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83280" cy="128016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[ Option 1 ] ★ แนะนำ คุ้มค่าสูงสุด</a:t>
            </a:r>
          </a:p>
          <a:p>
            <a:pPr>
              <a:defRPr sz="1350" b="1">
                <a:solidFill>
                  <a:srgbClr val="FFFFFF"/>
                </a:solidFill>
              </a:defRPr>
            </a:pPr>
            <a:r>
              <a:t>แอปมือถือ + Telegram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34640"/>
            <a:ext cx="3017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0284C7"/>
                </a:solidFill>
              </a:defRPr>
            </a:pPr>
            <a:r>
              <a:t>• แบบซื้อขาด: ฿250,000 (2,500 บ./จุด)</a:t>
            </a:r>
          </a:p>
          <a:p>
            <a:pPr>
              <a:spcAft>
                <a:spcPts val="600"/>
              </a:spcAft>
              <a:defRPr b="1" sz="1000">
                <a:solidFill>
                  <a:srgbClr val="059669"/>
                </a:solidFill>
              </a:defRPr>
            </a:pPr>
            <a:r>
              <a:t>• แบบรายปี: ฿170,000 (ปีแรก)</a:t>
            </a:r>
            <a:br/>
            <a:r>
              <a:t>  (ปีถัดไป ฿120,000 บ./ปี (1,200 บ./จุด/ปี))</a:t>
            </a:r>
          </a:p>
          <a:p>
            <a:pPr>
              <a:spcAft>
                <a:spcPts val="600"/>
              </a:spcAft>
              <a:defRPr sz="900" b="1">
                <a:solidFill>
                  <a:srgbClr val="0F172A"/>
                </a:solidFill>
              </a:defRPr>
            </a:pPr>
            <a:r>
              <a:t>💡 จุดเด่น: แจ้งเตือนฟรีตลอดชีพ ไม่มีค่าส่งข้อความ</a:t>
            </a:r>
          </a:p>
          <a:p>
            <a:pPr>
              <a:spcAft>
                <a:spcPts val="200"/>
              </a:spcAft>
              <a:defRPr sz="880">
                <a:solidFill>
                  <a:srgbClr val="64748B"/>
                </a:solidFill>
              </a:defRPr>
            </a:pPr>
            <a:r>
              <a:t>✓ Modela App (iOS &amp; Android) สลับดู 100 จุด</a:t>
            </a:r>
          </a:p>
          <a:p>
            <a:pPr>
              <a:spcAft>
                <a:spcPts val="200"/>
              </a:spcAft>
              <a:defRPr sz="880">
                <a:solidFill>
                  <a:srgbClr val="64748B"/>
                </a:solidFill>
              </a:defRPr>
            </a:pPr>
            <a:r>
              <a:t>✓ แจ้งเตือนผ่าน Telegram Bot แบบกลุ่ม/เดี่ยว</a:t>
            </a:r>
          </a:p>
          <a:p>
            <a:pPr>
              <a:spcAft>
                <a:spcPts val="200"/>
              </a:spcAft>
              <a:defRPr sz="880">
                <a:solidFill>
                  <a:srgbClr val="64748B"/>
                </a:solidFill>
              </a:defRPr>
            </a:pPr>
            <a:r>
              <a:t>✓ ส่งข้อความเตือนฟรี 100% ไม่จำกัดจำนวนครั้ง</a:t>
            </a:r>
          </a:p>
          <a:p>
            <a:pPr>
              <a:spcAft>
                <a:spcPts val="200"/>
              </a:spcAft>
              <a:defRPr sz="880">
                <a:solidFill>
                  <a:srgbClr val="64748B"/>
                </a:solidFill>
              </a:defRPr>
            </a:pPr>
            <a:r>
              <a:t>✓ ไม่มีต้นทุนแฝง กำไรเต็มเม็ดเต็มหน่วย</a:t>
            </a:r>
          </a:p>
          <a:p>
            <a:pPr>
              <a:spcAft>
                <a:spcPts val="200"/>
              </a:spcAft>
              <a:defRPr sz="880">
                <a:solidFill>
                  <a:srgbClr val="64748B"/>
                </a:solidFill>
              </a:defRPr>
            </a:pPr>
            <a:r>
              <a:t>✓ ฟรี Support / แก้บั๊ก 1 ปีแรก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128016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55448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</a:defRPr>
            </a:pPr>
            <a:r>
              <a:t>[ Option 2 ] สำหรับห้องควบคุม SCADA</a:t>
            </a:r>
          </a:p>
          <a:p>
            <a:pPr>
              <a:defRPr sz="1350" b="1">
                <a:solidFill>
                  <a:srgbClr val="FFFFFF"/>
                </a:solidFill>
              </a:defRPr>
            </a:pPr>
            <a:r>
              <a:t>เว็บกลาง 100 จุด + Telegram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834640"/>
            <a:ext cx="3017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0284C7"/>
                </a:solidFill>
              </a:defRPr>
            </a:pPr>
            <a:r>
              <a:t>• แบบซื้อขาด: ฿450,000 (4,500 บ./จุด)</a:t>
            </a:r>
          </a:p>
          <a:p>
            <a:pPr>
              <a:spcAft>
                <a:spcPts val="600"/>
              </a:spcAft>
              <a:defRPr b="1" sz="1000">
                <a:solidFill>
                  <a:srgbClr val="059669"/>
                </a:solidFill>
              </a:defRPr>
            </a:pPr>
            <a:r>
              <a:t>• แบบรายปี: ฿340,000 (ปีแรก)</a:t>
            </a:r>
            <a:br/>
            <a:r>
              <a:t>  (ปีถัดไป ฿240,000 บ./ปี (2,400 บ./จุด/ปี))</a:t>
            </a:r>
          </a:p>
          <a:p>
            <a:pPr>
              <a:spcAft>
                <a:spcPts val="600"/>
              </a:spcAft>
              <a:defRPr sz="900" b="1">
                <a:solidFill>
                  <a:srgbClr val="0F172A"/>
                </a:solidFill>
              </a:defRPr>
            </a:pPr>
            <a:r>
              <a:t>💡 จุดเด่น: ดูภาพรวมและตารางสรุปทั้ง 100 จุดในจอเดียว</a:t>
            </a:r>
          </a:p>
          <a:p>
            <a:pPr>
              <a:spcAft>
                <a:spcPts val="200"/>
              </a:spcAft>
              <a:defRPr sz="880">
                <a:solidFill>
                  <a:srgbClr val="64748B"/>
                </a:solidFill>
              </a:defRPr>
            </a:pPr>
            <a:r>
              <a:t>✓ Centralized Web SCADA Dashboard 100 จุด</a:t>
            </a:r>
          </a:p>
          <a:p>
            <a:pPr>
              <a:spcAft>
                <a:spcPts val="200"/>
              </a:spcAft>
              <a:defRPr sz="880">
                <a:solidFill>
                  <a:srgbClr val="64748B"/>
                </a:solidFill>
              </a:defRPr>
            </a:pPr>
            <a:r>
              <a:t>✓ แผนที่ GIS Map &amp; ตารางสรุปสถานะ Real-Time</a:t>
            </a:r>
          </a:p>
          <a:p>
            <a:pPr>
              <a:spcAft>
                <a:spcPts val="200"/>
              </a:spcAft>
              <a:defRPr sz="880">
                <a:solidFill>
                  <a:srgbClr val="64748B"/>
                </a:solidFill>
              </a:defRPr>
            </a:pPr>
            <a:r>
              <a:t>✓ กราฟวิเคราะห์แนวโน้ม Multi-Axis 100 สถานี</a:t>
            </a:r>
          </a:p>
          <a:p>
            <a:pPr>
              <a:spcAft>
                <a:spcPts val="200"/>
              </a:spcAft>
              <a:defRPr sz="880">
                <a:solidFill>
                  <a:srgbClr val="64748B"/>
                </a:solidFill>
              </a:defRPr>
            </a:pPr>
            <a:r>
              <a:t>✓ แจ้งเตือนผ่าน Telegram Bot ทันทีเมื่อผิดปกติ</a:t>
            </a:r>
          </a:p>
          <a:p>
            <a:pPr>
              <a:spcAft>
                <a:spcPts val="200"/>
              </a:spcAft>
              <a:defRPr sz="880">
                <a:solidFill>
                  <a:srgbClr val="64748B"/>
                </a:solidFill>
              </a:defRPr>
            </a:pPr>
            <a:r>
              <a:t>✓ Export รายงาน Excel / PDF ย้อนหลังได้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3832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20" y="1463040"/>
            <a:ext cx="3383280" cy="128016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55448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DD4BF"/>
                </a:solidFill>
              </a:defRPr>
            </a:pPr>
            <a:r>
              <a:t>[ Option 3 ] ครบวงจร + แจ้งเตือน LINE</a:t>
            </a:r>
          </a:p>
          <a:p>
            <a:pPr>
              <a:defRPr sz="1350" b="1">
                <a:solidFill>
                  <a:srgbClr val="FFFFFF"/>
                </a:solidFill>
              </a:defRPr>
            </a:pPr>
            <a:r>
              <a:t>เว็บกลาง + แอป + LINE OA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834640"/>
            <a:ext cx="30175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0284C7"/>
                </a:solidFill>
              </a:defRPr>
            </a:pPr>
            <a:r>
              <a:t>• แบบซื้อขาด: ฿600,000 (6,000 บ./จุด)</a:t>
            </a:r>
          </a:p>
          <a:p>
            <a:pPr>
              <a:spcAft>
                <a:spcPts val="600"/>
              </a:spcAft>
              <a:defRPr b="1" sz="1000">
                <a:solidFill>
                  <a:srgbClr val="059669"/>
                </a:solidFill>
              </a:defRPr>
            </a:pPr>
            <a:r>
              <a:t>• แบบรายปี: ฿510,000 (ปีแรก)</a:t>
            </a:r>
            <a:br/>
            <a:r>
              <a:t>  (ปีถัดไป ฿360,000 บ./ปี (3,600 บ./จุด/ปี))</a:t>
            </a:r>
          </a:p>
          <a:p>
            <a:pPr>
              <a:spcAft>
                <a:spcPts val="600"/>
              </a:spcAft>
              <a:defRPr sz="900" b="1">
                <a:solidFill>
                  <a:srgbClr val="0F172A"/>
                </a:solidFill>
              </a:defRPr>
            </a:pPr>
            <a:r>
              <a:t>💡 จุดเด่น: LINE มีค่าแพ็กเกจส่งข้อความรายเดือนเพิ่มเติม</a:t>
            </a:r>
          </a:p>
          <a:p>
            <a:pPr>
              <a:spcAft>
                <a:spcPts val="200"/>
              </a:spcAft>
              <a:defRPr sz="880">
                <a:solidFill>
                  <a:srgbClr val="64748B"/>
                </a:solidFill>
              </a:defRPr>
            </a:pPr>
            <a:r>
              <a:t>✓ ได้ทั้ง Web SCADA + Modela App ครบชุด</a:t>
            </a:r>
          </a:p>
          <a:p>
            <a:pPr>
              <a:spcAft>
                <a:spcPts val="200"/>
              </a:spcAft>
              <a:defRPr sz="880">
                <a:solidFill>
                  <a:srgbClr val="64748B"/>
                </a:solidFill>
              </a:defRPr>
            </a:pPr>
            <a:r>
              <a:t>✓ แจ้งเตือนผ่าน LINE Official Account (LINE OA)</a:t>
            </a:r>
          </a:p>
          <a:p>
            <a:pPr>
              <a:spcAft>
                <a:spcPts val="200"/>
              </a:spcAft>
              <a:defRPr sz="880">
                <a:solidFill>
                  <a:srgbClr val="64748B"/>
                </a:solidFill>
              </a:defRPr>
            </a:pPr>
            <a:r>
              <a:t>✓ ส่งการ์ดแจ้งเตือนพร้อมสีสถานะและปุ่มกดดูสด</a:t>
            </a:r>
          </a:p>
          <a:p>
            <a:pPr>
              <a:spcAft>
                <a:spcPts val="200"/>
              </a:spcAft>
              <a:defRPr sz="880">
                <a:solidFill>
                  <a:srgbClr val="64748B"/>
                </a:solidFill>
              </a:defRPr>
            </a:pPr>
            <a:r>
              <a:t>✓ +฿1,500/จุด เพื่อซัพพอร์ตค่า Broadcast ของ LINE</a:t>
            </a:r>
          </a:p>
          <a:p>
            <a:pPr>
              <a:spcAft>
                <a:spcPts val="200"/>
              </a:spcAft>
              <a:defRPr sz="880">
                <a:solidFill>
                  <a:srgbClr val="64748B"/>
                </a:solidFill>
              </a:defRPr>
            </a:pPr>
            <a:r>
              <a:t>✓ สัญญาบริการระดับพรีเมียม 24/7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4. ตัวอย่างข้อความแจ้งเตือนเมื่อพบค่าผิดปกติ (Telegram vs LINE OA)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284C7"/>
                </a:solidFill>
              </a:defRPr>
            </a:pPr>
            <a:r>
              <a:t>✈️ รูปแบบ Telegram Alert (ส่งฟรี &amp; ไวมาก)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🚨 แจ้งเตือนคุณภาพน้ำผิดปกติ</a:t>
            </a:r>
            <a:br/>
            <a:r>
              <a:t>📍 จุดติดตั้ง: บ่อพักน้ำ #04 (ตู้ 1004)</a:t>
            </a:r>
            <a:br/>
            <a:r>
              <a:t>⏰ เวลา: 14:15 น.</a:t>
            </a:r>
            <a:br/>
            <a:r>
              <a:t>━━━━━━━━━━━━━━━━━━━━</a:t>
            </a:r>
            <a:br/>
            <a:r>
              <a:t>• คลอรีน: 0.15 mg/L ❌ (เกณฑ์ 0.20-2.00)</a:t>
            </a:r>
            <a:br/>
            <a:r>
              <a:t>• pH: 6.4 ❌ (เกณฑ์ 6.5-8.5)</a:t>
            </a:r>
            <a:br/>
            <a:r>
              <a:t>• TDS: 185 ppm (ปกติ)</a:t>
            </a:r>
            <a:br/>
            <a:r>
              <a:t>• อุณหภูมิ: 28.5 °C (ปกติ)</a:t>
            </a:r>
            <a:br/>
            <a:r>
              <a:t>━━━━━━━━━━━━━━━━━━━━</a:t>
            </a:r>
            <a:br/>
            <a:r>
              <a:t>🔗 ดูกราฟย้อนหลัง: https://water-iot.com/node/1004</a:t>
            </a:r>
          </a:p>
          <a:p>
            <a:pPr>
              <a:defRPr sz="950" b="1">
                <a:solidFill>
                  <a:srgbClr val="059669"/>
                </a:solidFill>
              </a:defRPr>
            </a:pPr>
            <a:r>
              <a:t>✔ จุดเด่น: ส่งฟรี 100% ไม่มีค่า Broadcast รายเดือน กำไรเต็มเม็ดเต็มหน่วย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0" y="169164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59669"/>
                </a:solidFill>
              </a:defRPr>
            </a:pPr>
            <a:r>
              <a:t>💬 รูปแบบ LINE OA Alert (การ์ดสถานะยอดนิยม)</a:t>
            </a:r>
          </a:p>
          <a:p>
            <a:pPr>
              <a:spcAft>
                <a:spcPts val="1000"/>
              </a:spcAft>
              <a:defRPr sz="1050">
                <a:solidFill>
                  <a:srgbClr val="0F172A"/>
                </a:solidFill>
              </a:defRPr>
            </a:pPr>
            <a:r>
              <a:t>🚨 [CRITICAL] คุณภาพน้ำหลุดเกณฑ์</a:t>
            </a:r>
            <a:br/>
            <a:r>
              <a:t>📍 สถานี: บ่อจ่ายน้ำเขตเหนือ</a:t>
            </a:r>
            <a:br/>
            <a:r>
              <a:t>━━━━━━━━━━━━━━━━━━━━</a:t>
            </a:r>
            <a:br/>
            <a:r>
              <a:t>• คลอรีน: 0.12 mg/L ⚠️ (ต่ำกว่าเกณฑ์)</a:t>
            </a:r>
            <a:br/>
            <a:r>
              <a:t>• ค่า pH: 6.30 ⚠️ (ต่ำกว่าเกณฑ์)</a:t>
            </a:r>
            <a:br/>
            <a:r>
              <a:t>• ค่า TDS: 190 ppm (ปกติ)</a:t>
            </a:r>
            <a:br/>
            <a:r>
              <a:t>• อุณหภูมิ: 29.0 °C (ปกติ)</a:t>
            </a:r>
            <a:br/>
            <a:r>
              <a:t>━━━━━━━━━━━━━━━━━━━━</a:t>
            </a:r>
            <a:br/>
            <a:r>
              <a:t>👉 [เปิด Dashboard ดูข้อมูลสด]</a:t>
            </a:r>
          </a:p>
          <a:p>
            <a:pPr>
              <a:defRPr sz="950" b="1">
                <a:solidFill>
                  <a:srgbClr val="0284C7"/>
                </a:solidFill>
              </a:defRPr>
            </a:pPr>
            <a:r>
              <a:t>✔ จุดเด่น: ใช้งานง่ายในกลุ่มไลน์ผู้บริหาร (+฿1,500/จุด เพื่อซับพอร์ตค่า Broadcast LINE)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5. ตัวอย่างหน้าจอ Centralized Web SCADA Dashboard (จอห้องควบคุม 100 จุด)</a:t>
            </a:r>
          </a:p>
        </p:txBody>
      </p:sp>
      <p:pic>
        <p:nvPicPr>
          <p:cNvPr id="3" name="Picture 2" descr="scada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217920" cy="47548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132320" y="1463040"/>
            <a:ext cx="432785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0" y="1600200"/>
            <a:ext cx="396209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284C7"/>
                </a:solidFill>
              </a:defRPr>
            </a:pPr>
            <a:r>
              <a:t>💻 คำอธิบายฟังก์ชันหน้าจอ SCADA: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❶ สถานะระบบ &amp; แบตเตอรี่: แสดงสถานะ Healthy, สัญญาณ 4G/WiFi และแบต LiFePO4 (90%)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❷ การ์ดตรวจวัด 4 ค่าหลัก: อุณหภูมิน้ำ (ATC), pH (Glass Probe), TDS (ppm), Cl (mg/L)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❸ กราฟแนวโน้ม Real-Time: พล็อตข้อมูลสด 1 วินาที ติดตามค่าน้ำ 24 ชม. ย้อนหลังได้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❹ ไดอะแกรมเชื่อมต่อ: ตรวจจับสายสัญญาณ WiFi ➔ Display ➔ Sensor Probes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❺ Digital Calibration: สอบเทียบหัววัด pH 7.00 / 4.01 ผ่านหน้าเว็บในคลิกเดียว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</a:defRPr>
            </a:pPr>
            <a:r>
              <a:t>❻ ส่งออกรายงาน: Export ข้อมูลเป็น Excel / PDF สำหรับรายงาน ISO ทันที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284C7"/>
                </a:solidFill>
              </a:defRPr>
            </a:pPr>
            <a:r>
              <a:t>โครงการระบบตรวจวัดคุณภาพน้ำ 100 ชุด (NCT WATER NEXUS)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6. ตัวอย่างหน้าจอมือถือ (Modela Mobile Companion App) &amp; Mobile Features</a:t>
            </a:r>
          </a:p>
        </p:txBody>
      </p:sp>
      <p:pic>
        <p:nvPicPr>
          <p:cNvPr id="3" name="Picture 2" descr="mobile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2377440" cy="47548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3383280" y="1463040"/>
            <a:ext cx="8076895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645920"/>
            <a:ext cx="74980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59669"/>
                </a:solidFill>
              </a:defRPr>
            </a:pPr>
            <a:r>
              <a:t>📱 คำอธิบายฟังก์ชันแอปพลิเคชันมือถือ (iOS &amp; Android):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✔ All Devices Hub (100 จุด): ค้นหาและสลับดูข้อมูลสถานีตรวจวัดคุณภาพน้ำทั้ง 100 จุดได้ง่ายดายในแอปเดียว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✔ Hero Metric Display: แสดงค่า pH และ คลอรีนคงเหลือ (Cl) ด้วยตัวเลขขนาดใหญ่ สีสันอ่านง่าย รู้ผลทันที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✔ Ambient &amp; Water Temp: แสดงอุณหภูมิน้ำทั้งหน่วยเซลเซียส (°C) และฟาเรนไฮต์ (°F) พร้อมระบบชดเชยอุณหภูมิ ATC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✔ Hardware Link &amp; Battery: ตรวจสอบระดับแบตเตอรี่สำรองและสถานะการเชื่อมต่อของทุกตู้ได้จากระยะไกลตลอด 24 ชม.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✔ Instant Emergency Alerts: ระบบ Push Notification แจ้งเตือนข้อความด่วนเข้ามือถือทันทีเมื่อมีจุดใดผิดปกติ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1188720"/>
            <a:ext cx="9601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DD4BF"/>
                </a:solidFill>
              </a:defRPr>
            </a:pPr>
            <a:r>
              <a:t>💧 สรุปภาพรวมข้อเสนอราคาโครงการตรวจวัดคุณภาพน้ำ 100 ชุด</a:t>
            </a:r>
          </a:p>
          <a:p>
            <a:pPr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NCT WATER NEXUS PRO</a:t>
            </a:r>
          </a:p>
          <a:p>
            <a:pPr>
              <a:spcAft>
                <a:spcPts val="1600"/>
              </a:spcAft>
              <a:defRPr sz="1350">
                <a:solidFill>
                  <a:srgbClr val="CBD5E1"/>
                </a:solidFill>
              </a:defRPr>
            </a:pPr>
            <a:r>
              <a:t>พร้อมส่งมอบอุปกรณ์และระบบแดชบอร์ดครบวงจรตามขอบเขตที่ลูกค้าเลือก:</a:t>
            </a:r>
          </a:p>
          <a:p>
            <a:pPr>
              <a:spcAft>
                <a:spcPts val="2400"/>
              </a:spcAft>
              <a:defRPr sz="1100">
                <a:solidFill>
                  <a:srgbClr val="E2E8F0"/>
                </a:solidFill>
              </a:defRPr>
            </a:pPr>
            <a:r>
              <a:t>• รวมต้นทุนต่อชุด: 21,000 บาท (100 ชุด = 2,100,000 บาท)</a:t>
            </a:r>
            <a:br/>
            <a:r>
              <a:t>• [แบบที่ 1 Plug &amp; Play]: 29,500 - 32,000 บ./ชุด (รวม 2.95 - 3.20 ล้าน | กำไร 8.5 แสน - 1.1 ล้าน)</a:t>
            </a:r>
            <a:br/>
            <a:r>
              <a:t>• [แบบที่ 2 Turnkey]: 38,000 - 42,000 บ./ชุด (รวม 3.80 - 4.20 ล้าน | กำไร 1.7 - 2.1 ล้าน)</a:t>
            </a:r>
            <a:br/>
            <a:r>
              <a:t>• ซอฟต์แวร์แดชบอร์ด 100 จุด: ซื้อขาด 2.5 - 6.0 แสน | รายปี 1.2 - 3.6 แสน/ปี (Recurring Income)</a:t>
            </a:r>
          </a:p>
          <a:p>
            <a:pPr>
              <a:defRPr sz="1200" b="1">
                <a:solidFill>
                  <a:srgbClr val="2DD4BF"/>
                </a:solidFill>
              </a:defRPr>
            </a:pPr>
            <a:r>
              <a:t>📞 สนใจสอบถามข้อมูลเพิ่มเติมและขอใบเสนอราคา (Request for Quotation):</a:t>
            </a:r>
            <a:br/>
            <a:r>
              <a:t>• Email: sales@nct-water.com  |  Tel: 02-XXX-XXXX, 08X-XXX-XXXX  |  Line: @nctwater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