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2DD4BF"/>
                </a:solidFill>
              </a:defRPr>
            </a:pPr>
            <a:r>
              <a:t>💧 โครงการระบบตรวจวัดคุณภาพน้ำอัจฉริยะและแจ้งเตือนอัตโนมัติ (100 จุด)</a:t>
            </a:r>
          </a:p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800"/>
              </a:spcAft>
              <a:defRPr sz="1800">
                <a:solidFill>
                  <a:srgbClr val="CBD5E1"/>
                </a:solidFill>
              </a:defRPr>
            </a:pPr>
            <a:r>
              <a:t>สรุปราคาและรูปแบบแจ้งเตือน: ตรวจวัด pH / TDS / อุณหภูมิ / คลอรีนคงเหลือ</a:t>
            </a:r>
          </a:p>
          <a:p>
            <a:pPr>
              <a:spcAft>
                <a:spcPts val="2800"/>
              </a:spcAft>
              <a:defRPr sz="1200">
                <a:solidFill>
                  <a:srgbClr val="94A3B8"/>
                </a:solidFill>
              </a:defRPr>
            </a:pPr>
            <a:r>
              <a:t>• ต้นทุนฮาร์ดแวร์ตู้คอนโทรล 4 ค่า: ฿21,000 / ชุด (รวม 100 จุด = ฿2,100,000)</a:t>
            </a:r>
            <a:br/>
            <a:r>
              <a:t>• 3 ออปชันซอฟต์แวร์และระบบแจ้งเตือน (Option 1: App+Telegram | Option 2: Web+Telegram | Option 3: Web+App+LINE OA)</a:t>
            </a:r>
            <a:br/>
            <a:r>
              <a:t>• รูปแบบการลงทุน: 【 แบบซื้อขาด (2.5 - 6.0 แสน) 】 vs 【 แบบรายปี (1.2 - 3.6 แสน/ปี Recurring Income) 】</a:t>
            </a:r>
          </a:p>
          <a:p>
            <a:pPr>
              <a:defRPr sz="1100">
                <a:solidFill>
                  <a:srgbClr val="2DD4BF"/>
                </a:solidFill>
              </a:defRPr>
            </a:pPr>
            <a:r>
              <a:t>NCT Water Solutions  •  System Version 2.5 Pro  •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โครงการระบบวัดคุณภาพน้ำอัจฉริยะ 100 จุด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1. ต้นทุนฮาร์ดแวร์ตู้คอนโทรลต่อชุดและรวม 100 จุด (Hardware BOM)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8328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10972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5448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FFFFF"/>
                </a:solidFill>
              </a:defRPr>
            </a:pPr>
            <a:r>
              <a:t>ชุดเซนเซอร์ 4 ค่า (Modela + คลอรีน)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ต้นทุน: ฿17,000 / ชุด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9748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• หัววัด pH แก้วอุตสาหกรรม (±0.01 pH)</a:t>
            </a:r>
            <a:br/>
            <a:r>
              <a:t>• หัววัด TDS / EC Titanium Dual-Pole</a:t>
            </a:r>
            <a:br/>
            <a:r>
              <a:t>• หัววัดอุณหภูมิน้ำ PT1000 RTD พร้อมระบบ ATC</a:t>
            </a:r>
            <a:br/>
            <a:r>
              <a:t>• หัววัดคลอรีนคงเหลือ (Residual Chlorine)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10972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55448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FFFFF"/>
                </a:solidFill>
              </a:defRPr>
            </a:pPr>
            <a:r>
              <a:t>4G Router + ซิมรายปี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ต้นทุน: ฿2,800 / ชุด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69748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• Industrial 4G LTE Router เสาสัญญาณภายนอก</a:t>
            </a:r>
            <a:br/>
            <a:r>
              <a:t>• ซิมอินเทอร์เน็ต IoT รายปี ไม่จำกัดปริมาณข้อมูล</a:t>
            </a:r>
            <a:br/>
            <a:r>
              <a:t>• ส่งข้อมูล Telemetry สดทุก 1 วินาที สู่คลาวด์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0" y="1463040"/>
            <a:ext cx="3383280" cy="10972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155448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FFFFF"/>
                </a:solidFill>
              </a:defRPr>
            </a:pPr>
            <a:r>
              <a:t>ตู้กันน้ำ IP65 + สวิตชิ่ง + เบรกเกอร์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ต้นทุน: ฿1,200 / ชุด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269748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• ตู้ควบคุมกันน้ำกันฝุ่นมาตรฐาน IP65</a:t>
            </a:r>
            <a:br/>
            <a:r>
              <a:t>• แหล่งจ่ายไฟ Switching Power Supply 12V/24V</a:t>
            </a:r>
            <a:br/>
            <a:r>
              <a:t>• เบรกเกอร์ป้องกันไฟกระชากและไฟเกิน (Surge)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120640"/>
            <a:ext cx="10728655" cy="11887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2578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2DD4BF"/>
                </a:solidFill>
              </a:defRPr>
            </a:pPr>
            <a:r>
              <a:t>➡️ รวมต้นทุนฮาร์ดแวร์: ฿21,000 บ./ชุด  |  โครงการ 100 จุด = ฿2,100,000 บาท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วัดค่าครบ 4 พารามิเตอร์: pH (กรด-ด่าง) • TDS (สารละลายรวม) • อุณหภูมิน้ำ (ATC) • คลอรีนคงเหลือ (Residual Chlorine) พร้อมส่งสัญญาณ 4G เรียบร้อย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โครงการระบบวัดคุณภาพน้ำอัจฉริยะ 100 จุด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2. ราคาซอฟต์แวร์ Dashboard &amp; ระบบแจ้งเตือน (โครงการ 100 จุด)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128016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[ Option 1 ] ★ แนะนำ คุ้มค่าสูงสุด</a:t>
            </a:r>
          </a:p>
          <a:p>
            <a:pPr>
              <a:defRPr sz="1350" b="1">
                <a:solidFill>
                  <a:srgbClr val="FFFFFF"/>
                </a:solidFill>
              </a:defRPr>
            </a:pPr>
            <a:r>
              <a:t>แอปมือถือ + Telegram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34640"/>
            <a:ext cx="3017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0284C7"/>
                </a:solidFill>
              </a:defRPr>
            </a:pPr>
            <a:r>
              <a:t>• แบบซื้อขาด: ฿250,000 (2,500 บ./จุด)</a:t>
            </a:r>
          </a:p>
          <a:p>
            <a:pPr>
              <a:spcAft>
                <a:spcPts val="600"/>
              </a:spcAft>
              <a:defRPr b="1" sz="1000">
                <a:solidFill>
                  <a:srgbClr val="059669"/>
                </a:solidFill>
              </a:defRPr>
            </a:pPr>
            <a:r>
              <a:t>• แบบรายปี: ฿170,000 (ปีแรก)</a:t>
            </a:r>
            <a:br/>
            <a:r>
              <a:t>  (ปีถัดไป ฿120,000 บ./ปี (1,200 บ./จุด/ปี))</a:t>
            </a:r>
          </a:p>
          <a:p>
            <a:pPr>
              <a:spcAft>
                <a:spcPts val="600"/>
              </a:spcAft>
              <a:defRPr sz="900" b="1">
                <a:solidFill>
                  <a:srgbClr val="0F172A"/>
                </a:solidFill>
              </a:defRPr>
            </a:pPr>
            <a:r>
              <a:t>💡 จุดเด่น: แจ้งเตือนฟรีตลอดชีพ ไม่มีค่าส่งข้อความ</a:t>
            </a:r>
          </a:p>
          <a:p>
            <a:pPr>
              <a:spcAft>
                <a:spcPts val="200"/>
              </a:spcAft>
              <a:defRPr sz="880">
                <a:solidFill>
                  <a:srgbClr val="64748B"/>
                </a:solidFill>
              </a:defRPr>
            </a:pPr>
            <a:r>
              <a:t>✓ Mobile App (iOS &amp; Android) สลับดู 100 จุด</a:t>
            </a:r>
          </a:p>
          <a:p>
            <a:pPr>
              <a:spcAft>
                <a:spcPts val="200"/>
              </a:spcAft>
              <a:defRPr sz="880">
                <a:solidFill>
                  <a:srgbClr val="64748B"/>
                </a:solidFill>
              </a:defRPr>
            </a:pPr>
            <a:r>
              <a:t>✓ แจ้งเตือนผ่าน Telegram Bot แบบกลุ่ม/เดี่ยว</a:t>
            </a:r>
          </a:p>
          <a:p>
            <a:pPr>
              <a:spcAft>
                <a:spcPts val="200"/>
              </a:spcAft>
              <a:defRPr sz="880">
                <a:solidFill>
                  <a:srgbClr val="64748B"/>
                </a:solidFill>
              </a:defRPr>
            </a:pPr>
            <a:r>
              <a:t>✓ ส่งข้อความเตือนฟรี 100% ไม่จำกัดจำนวนครั้ง</a:t>
            </a:r>
          </a:p>
          <a:p>
            <a:pPr>
              <a:spcAft>
                <a:spcPts val="200"/>
              </a:spcAft>
              <a:defRPr sz="880">
                <a:solidFill>
                  <a:srgbClr val="64748B"/>
                </a:solidFill>
              </a:defRPr>
            </a:pPr>
            <a:r>
              <a:t>✓ ไม่มีต้นทุนแฝง กำไรเต็มเม็ดเต็มหน่วย</a:t>
            </a:r>
          </a:p>
          <a:p>
            <a:pPr>
              <a:spcAft>
                <a:spcPts val="200"/>
              </a:spcAft>
              <a:defRPr sz="880">
                <a:solidFill>
                  <a:srgbClr val="64748B"/>
                </a:solidFill>
              </a:defRPr>
            </a:pPr>
            <a:r>
              <a:t>✓ ฟรี Support / แก้บั๊ก 1 ปีแรก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128016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55448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[ Option 2 ] สำหรับห้องควบคุม SCADA</a:t>
            </a:r>
          </a:p>
          <a:p>
            <a:pPr>
              <a:defRPr sz="1350" b="1">
                <a:solidFill>
                  <a:srgbClr val="FFFFFF"/>
                </a:solidFill>
              </a:defRPr>
            </a:pPr>
            <a:r>
              <a:t>เว็บกลาง 100 จุด + Telegram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834640"/>
            <a:ext cx="3017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0284C7"/>
                </a:solidFill>
              </a:defRPr>
            </a:pPr>
            <a:r>
              <a:t>• แบบซื้อขาด: ฿450,000 (4,500 บ./จุด)</a:t>
            </a:r>
          </a:p>
          <a:p>
            <a:pPr>
              <a:spcAft>
                <a:spcPts val="600"/>
              </a:spcAft>
              <a:defRPr b="1" sz="1000">
                <a:solidFill>
                  <a:srgbClr val="059669"/>
                </a:solidFill>
              </a:defRPr>
            </a:pPr>
            <a:r>
              <a:t>• แบบรายปี: ฿340,000 (ปีแรก)</a:t>
            </a:r>
            <a:br/>
            <a:r>
              <a:t>  (ปีถัดไป ฿240,000 บ./ปี (2,400 บ./จุด/ปี))</a:t>
            </a:r>
          </a:p>
          <a:p>
            <a:pPr>
              <a:spcAft>
                <a:spcPts val="600"/>
              </a:spcAft>
              <a:defRPr sz="900" b="1">
                <a:solidFill>
                  <a:srgbClr val="0F172A"/>
                </a:solidFill>
              </a:defRPr>
            </a:pPr>
            <a:r>
              <a:t>💡 จุดเด่น: ดูภาพรวมและตารางสรุปทั้ง 100 จุดในจอเดียว</a:t>
            </a:r>
          </a:p>
          <a:p>
            <a:pPr>
              <a:spcAft>
                <a:spcPts val="200"/>
              </a:spcAft>
              <a:defRPr sz="880">
                <a:solidFill>
                  <a:srgbClr val="64748B"/>
                </a:solidFill>
              </a:defRPr>
            </a:pPr>
            <a:r>
              <a:t>✓ Centralized Web SCADA Dashboard 100 จุด</a:t>
            </a:r>
          </a:p>
          <a:p>
            <a:pPr>
              <a:spcAft>
                <a:spcPts val="200"/>
              </a:spcAft>
              <a:defRPr sz="880">
                <a:solidFill>
                  <a:srgbClr val="64748B"/>
                </a:solidFill>
              </a:defRPr>
            </a:pPr>
            <a:r>
              <a:t>✓ แผนที่ GIS Map &amp; ตารางสรุปสถานะ Real-Time</a:t>
            </a:r>
          </a:p>
          <a:p>
            <a:pPr>
              <a:spcAft>
                <a:spcPts val="200"/>
              </a:spcAft>
              <a:defRPr sz="880">
                <a:solidFill>
                  <a:srgbClr val="64748B"/>
                </a:solidFill>
              </a:defRPr>
            </a:pPr>
            <a:r>
              <a:t>✓ กราฟวิเคราะห์แนวโน้ม Multi-Axis 100 สถานี</a:t>
            </a:r>
          </a:p>
          <a:p>
            <a:pPr>
              <a:spcAft>
                <a:spcPts val="200"/>
              </a:spcAft>
              <a:defRPr sz="880">
                <a:solidFill>
                  <a:srgbClr val="64748B"/>
                </a:solidFill>
              </a:defRPr>
            </a:pPr>
            <a:r>
              <a:t>✓ แจ้งเตือนผ่าน Telegram Bot ทันทีเมื่อผิดปกติ</a:t>
            </a:r>
          </a:p>
          <a:p>
            <a:pPr>
              <a:spcAft>
                <a:spcPts val="200"/>
              </a:spcAft>
              <a:defRPr sz="880">
                <a:solidFill>
                  <a:srgbClr val="64748B"/>
                </a:solidFill>
              </a:defRPr>
            </a:pPr>
            <a:r>
              <a:t>✓ Export รายงาน Excel / PDF ย้อนหลังได้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0" y="1463040"/>
            <a:ext cx="3383280" cy="12801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55448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DD4BF"/>
                </a:solidFill>
              </a:defRPr>
            </a:pPr>
            <a:r>
              <a:t>[ Option 3 ] ครบวงจร + แจ้งเตือน LINE</a:t>
            </a:r>
          </a:p>
          <a:p>
            <a:pPr>
              <a:defRPr sz="1350" b="1">
                <a:solidFill>
                  <a:srgbClr val="FFFFFF"/>
                </a:solidFill>
              </a:defRPr>
            </a:pPr>
            <a:r>
              <a:t>เว็บกลาง + แอป + LINE OA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834640"/>
            <a:ext cx="3017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0284C7"/>
                </a:solidFill>
              </a:defRPr>
            </a:pPr>
            <a:r>
              <a:t>• แบบซื้อขาด: ฿600,000 (6,000 บ./จุด)</a:t>
            </a:r>
          </a:p>
          <a:p>
            <a:pPr>
              <a:spcAft>
                <a:spcPts val="600"/>
              </a:spcAft>
              <a:defRPr b="1" sz="1000">
                <a:solidFill>
                  <a:srgbClr val="059669"/>
                </a:solidFill>
              </a:defRPr>
            </a:pPr>
            <a:r>
              <a:t>• แบบรายปี: ฿510,000 (ปีแรก)</a:t>
            </a:r>
            <a:br/>
            <a:r>
              <a:t>  (ปีถัดไป ฿360,000 บ./ปี (3,600 บ./จุด/ปี))</a:t>
            </a:r>
          </a:p>
          <a:p>
            <a:pPr>
              <a:spcAft>
                <a:spcPts val="600"/>
              </a:spcAft>
              <a:defRPr sz="900" b="1">
                <a:solidFill>
                  <a:srgbClr val="0F172A"/>
                </a:solidFill>
              </a:defRPr>
            </a:pPr>
            <a:r>
              <a:t>💡 จุดเด่น: LINE มีค่าแพ็กเกจส่งข้อความรายเดือนเพิ่มเติม</a:t>
            </a:r>
          </a:p>
          <a:p>
            <a:pPr>
              <a:spcAft>
                <a:spcPts val="200"/>
              </a:spcAft>
              <a:defRPr sz="880">
                <a:solidFill>
                  <a:srgbClr val="64748B"/>
                </a:solidFill>
              </a:defRPr>
            </a:pPr>
            <a:r>
              <a:t>✓ ได้ทั้ง Web SCADA + Mobile App ครบชุด</a:t>
            </a:r>
          </a:p>
          <a:p>
            <a:pPr>
              <a:spcAft>
                <a:spcPts val="200"/>
              </a:spcAft>
              <a:defRPr sz="880">
                <a:solidFill>
                  <a:srgbClr val="64748B"/>
                </a:solidFill>
              </a:defRPr>
            </a:pPr>
            <a:r>
              <a:t>✓ แจ้งเตือนผ่าน LINE Official Account (LINE OA)</a:t>
            </a:r>
          </a:p>
          <a:p>
            <a:pPr>
              <a:spcAft>
                <a:spcPts val="200"/>
              </a:spcAft>
              <a:defRPr sz="880">
                <a:solidFill>
                  <a:srgbClr val="64748B"/>
                </a:solidFill>
              </a:defRPr>
            </a:pPr>
            <a:r>
              <a:t>✓ ส่งการ์ดแจ้งเตือนพร้อมสีสถานะและปุ่มกดดูสด</a:t>
            </a:r>
          </a:p>
          <a:p>
            <a:pPr>
              <a:spcAft>
                <a:spcPts val="200"/>
              </a:spcAft>
              <a:defRPr sz="880">
                <a:solidFill>
                  <a:srgbClr val="64748B"/>
                </a:solidFill>
              </a:defRPr>
            </a:pPr>
            <a:r>
              <a:t>✓ +฿1,500/จุด เพื่อซัพพอร์ตค่า Broadcast ของ LINE</a:t>
            </a:r>
          </a:p>
          <a:p>
            <a:pPr>
              <a:spcAft>
                <a:spcPts val="200"/>
              </a:spcAft>
              <a:defRPr sz="880">
                <a:solidFill>
                  <a:srgbClr val="64748B"/>
                </a:solidFill>
              </a:defRPr>
            </a:pPr>
            <a:r>
              <a:t>✓ สัญญาบริการระดับพรีเมียม 24/7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โครงการระบบวัดคุณภาพน้ำอัจฉริยะ 100 จุด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3. ตัวอย่างข้อความแจ้งเตือนเมื่อพบค่าผิดปกติ (Telegram vs LINE OA)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284C7"/>
                </a:solidFill>
              </a:defRPr>
            </a:pPr>
            <a:r>
              <a:t>✈️ รูปแบบ Telegram Alert (ส่งฟรี &amp; ไวมาก)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🚨 แจ้งเตือนคุณภาพน้ำผิดปกติ</a:t>
            </a:r>
            <a:br/>
            <a:r>
              <a:t>📍 จุดติดตั้ง: บ่อพักน้ำ #04 (ตู้ 1004)</a:t>
            </a:r>
            <a:br/>
            <a:r>
              <a:t>⏰ เวลา: 14:15 น.</a:t>
            </a:r>
            <a:br/>
            <a:r>
              <a:t>━━━━━━━━━━━━━━━━━━━━</a:t>
            </a:r>
            <a:br/>
            <a:r>
              <a:t>• คลอรีน: 0.15 mg/L ❌ (เกณฑ์ 0.20-2.00)</a:t>
            </a:r>
            <a:br/>
            <a:r>
              <a:t>• pH: 6.4 ❌ (เกณฑ์ 6.5-8.5)</a:t>
            </a:r>
            <a:br/>
            <a:r>
              <a:t>• TDS: 185 ppm (ปกติ)</a:t>
            </a:r>
            <a:br/>
            <a:r>
              <a:t>• อุณหภูมิ: 28.5 °C (ปกติ)</a:t>
            </a:r>
            <a:br/>
            <a:r>
              <a:t>━━━━━━━━━━━━━━━━━━━━</a:t>
            </a:r>
            <a:br/>
            <a:r>
              <a:t>🔗 ดูกราฟย้อนหลัง: https://water-iot.com/node/1004</a:t>
            </a:r>
          </a:p>
          <a:p>
            <a:pPr>
              <a:defRPr sz="950" b="1">
                <a:solidFill>
                  <a:srgbClr val="059669"/>
                </a:solidFill>
              </a:defRPr>
            </a:pPr>
            <a:r>
              <a:t>✔ จุดเด่น: ส่งฟรี 100% ไม่มีค่า Broadcast รายเดือน กำไรเต็มเม็ดเต็มหน่วย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59669"/>
                </a:solidFill>
              </a:defRPr>
            </a:pPr>
            <a:r>
              <a:t>💬 รูปแบบ LINE OA Alert (การ์ดสถานะยอดนิยม)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🚨 [CRITICAL] คุณภาพน้ำหลุดเกณฑ์</a:t>
            </a:r>
            <a:br/>
            <a:r>
              <a:t>📍 สถานี: บ่อจ่ายน้ำเขตเหนือ</a:t>
            </a:r>
            <a:br/>
            <a:r>
              <a:t>━━━━━━━━━━━━━━━━━━━━</a:t>
            </a:r>
            <a:br/>
            <a:r>
              <a:t>• คลอรีน: 0.12 mg/L ⚠️ (ต่ำกว่าเกณฑ์)</a:t>
            </a:r>
            <a:br/>
            <a:r>
              <a:t>• ค่า pH: 6.30 ⚠️ (ต่ำกว่าเกณฑ์)</a:t>
            </a:r>
            <a:br/>
            <a:r>
              <a:t>• ค่า TDS: 190 ppm (ปกติ)</a:t>
            </a:r>
            <a:br/>
            <a:r>
              <a:t>• อุณหภูมิ: 29.0 °C (ปกติ)</a:t>
            </a:r>
            <a:br/>
            <a:r>
              <a:t>━━━━━━━━━━━━━━━━━━━━</a:t>
            </a:r>
            <a:br/>
            <a:r>
              <a:t>👉 [เปิด Dashboard ดูข้อมูลสด]</a:t>
            </a:r>
          </a:p>
          <a:p>
            <a:pPr>
              <a:defRPr sz="950" b="1">
                <a:solidFill>
                  <a:srgbClr val="0284C7"/>
                </a:solidFill>
              </a:defRPr>
            </a:pPr>
            <a:r>
              <a:t>✔ จุดเด่น: ใช้งานง่ายในกลุ่มไลน์ผู้บริหาร (+฿1,500/จุด เพื่อซับพอร์ตค่า Broadcast LINE)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โครงการระบบวัดคุณภาพน้ำอัจฉริยะ 100 จุด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วิเคราะห์จุดแข็ง-จุดเสี่ยงโมเดลราคา (Strategic Margin Analysis)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059669"/>
                </a:solidFill>
              </a:defRPr>
            </a:pPr>
            <a:r>
              <a:t>🔄 ฝั่งรายปี (ดีมาก แนะนำให้ผลักดันลูกค้ารูปแบบนี้)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ตัวเลข 1,200 – 3,600 บาท/จุด/ปี: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  ตกเดือนละ 100–300 บาท/ตู้ เป็นราคาที่ลูกค้าองค์กร/โรงงาน/เทศบาล จ่ายได้ง่ายมาก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Recurring Income ก้อนโตทุกปี: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  มีรายรับสม่ำเสมอ 120,000 – 360,000 บาททุกปี ไว้เป็นค่า Cloud Server, ค่าซ่อมบำรุง และกำไรต่อเนื่อง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ล็อกฐานลูกค้าได้ยาวนาน: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  ลูกค้าไม่ต้องกังวลเรื่องการดูแล เราดูแลซ่อมบำรุงและอัปเดตระบบให้ 100%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0284C7"/>
                </a:solidFill>
              </a:defRPr>
            </a:pPr>
            <a:r>
              <a:t>🏷️ ฝั่งซื้อขาด (ตัวเลขผ่าน แต่ต้องล็อคขอบเขตให้ชัด)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ราคาเฉลี่ย 2,500 – 6,000 บาท/จุด: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  ยอดรวม 2.5 – 6 แสนบาท ลูกค้าไม่รู้สึกว่าแพงเกินไปสำหรับระบบ 100 จุด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จุดที่ต้องระวัง: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  ซื้อขาดแปลว่าเราต้องแบกค่า Host/Database เองในอนาคต หรือต้องส่งมอบ Source Code ให้ลูกค้ารัน Server เอง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เงื่อนไขสัญญาป้องกันต้นทุน (MA):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  ควรกำหนดในสัญญาว่า ฟรี Support/แก้บั๊ก 1 ปีแรกเท่านั้น ปีถัดไปคิดสัญญา MA แยก 10–15% ต่อปี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โครงการระบบวัดคุณภาพน้ำอัจฉริยะ 100 จุด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ระบบแดชบอร์ด SCADA และ Mobile Companion App (Software Platform)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284C7"/>
                </a:solidFill>
              </a:defRPr>
            </a:pPr>
            <a:r>
              <a:t>💻 1. Centralized SCADA Widescreen View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GIS Map &amp; 100-Node Grid Overview: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  แสดงตำแหน่งและสถานะของทั้ง 100 สถานีบนแผนที่ GIS ตรวจเช็คจุดผิดปกติได้ทันที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High-Frequency Telemetry Trends: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  กราฟ Real-Time Dynamic Charts วิเคราะห์แนวโน้มคุณภาพน้ำของแต่ละสถานี 24 ชม.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Zone Alert Management: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  ระบบแยกกลุ่มโซนการแจ้งเตือนตามพื้นที่ (เช่น โซนอาคาร A, โซนโรงงาน 1-4)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Automated Compliance Reports: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  สร้างรายงานสรุปเปรียบเทียบ 100 จุดอัตโนมัติ ส่งออกเป็น Excel / PDF ในคลิกเดียว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59669"/>
                </a:solidFill>
              </a:defRPr>
            </a:pPr>
            <a:r>
              <a:t>📱 2. Multi-Station Mobile Companion App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100-Device Hub Selector: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  สลับดูข้อมูลสถานีตรวจวัดน้ำทั้ง 100 จุดได้ง่ายดายในแอปเดียว (ค้นหาตามชื่อ/โซน)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Instant Push Notification &amp; Line Alert: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  แจ้งเตือนข้อความฉุกเฉินทันทีเมื่อมีจุดใดจุดหนึ่งใน 100 จุดหลุดเกณฑ์มาตรฐาน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Color-Coded Status Cards: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  แสดงสถานะด้วยสีเขียว/เหลือง/แดง ชัดเจน รู้ทันทีว่าจุดไหนปกติดีหรือต้องตรวจเช็ค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Offline Battery &amp; Link Monitor: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  ตรวจสอบสัญญาณ WiFi/4G และระดับแบตเตอรี่สำรองของทุกตู้ได้จากระยะไกล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โครงการระบบวัดคุณภาพน้ำอัจฉริยะ 100 จุด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ข้อกำหนดสัญญาและการบริการหลังการขาย (SLA &amp; MA Agreement)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11887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รวมทุกอย่างครบวงจร (ALL-INCLUSIVE)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สัญญาแบบรายปี (Subscription Model)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346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• รวมค่า Cloud Server, Database &amp; ซิม 4G ตลอดสัญญา</a:t>
            </a:r>
            <a:br/>
            <a:r>
              <a:t>• ฟรีบริการแก้บั๊ก อัปเดตเฟิร์มแวร์ และปรับปรุงซอฟต์แวร์ใหม่ตลอดเวลา</a:t>
            </a:r>
            <a:br/>
            <a:r>
              <a:t>• ทีมวิศวกร On-site Support และสอบเทียบ Calibrate ตามรอบ</a:t>
            </a:r>
            <a:br/>
            <a:r>
              <a:t>• สร้าง Recurring Income ฿120,000 – ฿360,000 / ปี อย่างมั่นคง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39535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39535" y="1463040"/>
            <a:ext cx="5120640" cy="11887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22415" y="155448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ล็อคขอบเขต MA ชัดเจนตั้งแต่ปีที่ 2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สัญญาแบบซื้อขาด (Outright + MA 10-15%)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22415" y="28346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• ฟรี Support / แก้ไขปัญหา / ดูแลเซิร์ฟเวอร์ 1 ปีแรกเท่านั้น</a:t>
            </a:r>
            <a:br/>
            <a:r>
              <a:t>• ปีที่ 2 เป็นต้นไป คิดสัญญา MA 10–15% ต่อปี (ประมาณ ฿25,000 – ฿90,000/ปี)</a:t>
            </a:r>
            <a:br/>
            <a:r>
              <a:t>• ป้องกันภาระค่าโฮสต์และฐานข้อมูลในระยะยาวได้อย่างมีประสิทธิภาพ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💧 โครงการระบบตรวจวัดคุณภาพน้ำและแดชบอร์ด 100 จุด</a:t>
            </a:r>
          </a:p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2000"/>
              </a:spcAft>
              <a:defRPr sz="1350">
                <a:solidFill>
                  <a:srgbClr val="CBD5E1"/>
                </a:solidFill>
              </a:defRPr>
            </a:pPr>
            <a:r>
              <a:t>พร้อมให้คำปรึกษา ออกแบบระบบ และจัดทำใบเสนอราคาโครงการตามงบประมาณของลูกค้า</a:t>
            </a:r>
          </a:p>
          <a:p>
            <a:pPr>
              <a:defRPr b="1" sz="1300">
                <a:solidFill>
                  <a:srgbClr val="FFFFFF"/>
                </a:solidFill>
              </a:defRPr>
            </a:pPr>
            <a:r>
              <a:t>✨ สรุปข้อเสนอโครงการ 100 จุด:</a:t>
            </a:r>
          </a:p>
          <a:p>
            <a:pPr>
              <a:spcAft>
                <a:spcPts val="2400"/>
              </a:spcAft>
              <a:defRPr sz="1050">
                <a:solidFill>
                  <a:srgbClr val="E2E8F0"/>
                </a:solidFill>
              </a:defRPr>
            </a:pPr>
            <a:r>
              <a:t>• ฮาร์ดแวร์ 4 ค่า (pH/TDS/Temp/Cl): ฿21,000/ชุด (รวม 100 จุด = ฿2,100,000)</a:t>
            </a:r>
            <a:br/>
            <a:r>
              <a:t>• ซอฟต์แวร์แดชบอร์ด Option 1 (App+Telegram): ซื้อขาด ฿250,000 | รายปี ฿170,000 (ปีถัดไป ฿120,000/ปี)</a:t>
            </a:r>
            <a:br/>
            <a:r>
              <a:t>• ซอฟต์แวร์แดชบอร์ด Option 2 (Web+Telegram): ซื้อขาด ฿450,000 | รายปี ฿340,000 (ปีถัดไป ฿240,000/ปี)</a:t>
            </a:r>
            <a:br/>
            <a:r>
              <a:t>• ซอฟต์แวร์แดชบอร์ด Option 3 (Web+App+LINE): ซื้อขาด ฿600,000 | รายปี ฿510,000 (ปีถัดไป ฿360,000/ปี)</a:t>
            </a:r>
            <a:br/>
            <a:r>
              <a:t>• เปิดดูแดชบอร์ดและสไลด์ออนไลน์ได้ที่: https://woobwarb.github.io/nct-water-nexus/</a:t>
            </a:r>
          </a:p>
          <a:p>
            <a:pPr>
              <a:defRPr sz="1200" b="1">
                <a:solidFill>
                  <a:srgbClr val="2DD4BF"/>
                </a:solidFill>
              </a:defRPr>
            </a:pPr>
            <a:r>
              <a:t>📞 สนใจสอบถามข้อมูลเพิ่มเติมและขอใบเสนอราคา (Request for Quotation):</a:t>
            </a:r>
            <a:br/>
            <a:r>
              <a:t>• Email: sales@nct-water.com  |  Tel: 02-XXX-XXXX, 08X-XXX-XXXX  |  Line: @nctwater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