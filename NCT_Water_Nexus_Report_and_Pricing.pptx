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DD4BF"/>
                </a:solidFill>
              </a:defRPr>
            </a:pPr>
            <a:r>
              <a:t>💧 ชุดอุปกรณ์ตรวจวัดคุณภาพน้ำอัจฉริยะสำเร็จรูป (Modela + Cybertice)</a:t>
            </a:r>
          </a:p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800"/>
              </a:spcAft>
              <a:defRPr sz="1600">
                <a:solidFill>
                  <a:srgbClr val="CBD5E1"/>
                </a:solidFill>
              </a:defRPr>
            </a:pPr>
            <a:r>
              <a:t>รายงานนำเสนอโซลูชันระบบตรวจวัดคุณภาพน้ำ แดชบอร์ดควบคุม และใบเสนอราคามาตรฐานต่อชุด</a:t>
            </a:r>
          </a:p>
          <a:p>
            <a:pPr>
              <a:spcAft>
                <a:spcPts val="2800"/>
              </a:spcAft>
              <a:defRPr sz="1150">
                <a:solidFill>
                  <a:srgbClr val="94A3B8"/>
                </a:solidFill>
              </a:defRPr>
            </a:pPr>
            <a:r>
              <a:t>• 4 พารามิเตอร์คุณภาพน้ำ: pH / TDS / อุณหภูมิน้ำ (ATC) / คลอรีนคงเหลือ (Residual Cl)</a:t>
            </a:r>
            <a:br/>
            <a:r>
              <a:t>• 4.1 รุ่น 4G LTE Plug &amp; Play: ฿36,000 / ชุด (มีเราเตอร์ + ซิม Unlimited ฟรีปีแรก • สั่งปลีก ฿39,500 / ชุด)</a:t>
            </a:r>
            <a:br/>
            <a:r>
              <a:t>• 4.2 รุ่น Wi-Fi Direct: ฿32,000 / ชุด (ตัดเราเตอร์และซิมออก ต่อ Wi-Fi หน้างานตรง • สั่งปลีก ฿35,500 / ชุด)</a:t>
            </a:r>
            <a:br/>
            <a:r>
              <a:t>• ปีที่ 2 เป็นต้นไป: ค่าบริการ Cloud Server &amp; Software MA เดือนละ 300 บาท/จุด (เน็ตฟรีเฉพาะปีแรก)</a:t>
            </a:r>
            <a:br/>
            <a:r>
              <a:t>• ทั้งสองรุ่นผูกสิทธิ์ Web Dashboard และ Cloud ฟรีปีแรก รองรับสูงสุด 100 จุด (เกิน 100 จุดมีค่าบริหารจัดการเพิ่ม)</a:t>
            </a:r>
          </a:p>
          <a:p>
            <a:pPr>
              <a:defRPr sz="1100">
                <a:solidFill>
                  <a:srgbClr val="2DD4BF"/>
                </a:solidFill>
              </a:defRPr>
            </a:pPr>
            <a:r>
              <a:t>NCT PROSPERA TECH SOLUTIONS CO., LTD.  •  System Version 2.6 Pro  •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1. ข้อมูลผลิตภัณฑ์และข้อกำหนดทางเทคนิค 4 พารามิเตอร์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#1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ความเป็นกรด-ด่าง (pH)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14.00 pH</a:t>
            </a:r>
            <a:br/>
            <a:br/>
            <a:r>
              <a:t>• ความแม่นยำ (Accuracy):</a:t>
            </a:r>
            <a:br/>
            <a:r>
              <a:t>  ±0.01 pH</a:t>
            </a:r>
            <a:br/>
            <a:br/>
            <a:r>
              <a:t>• เทคโนโลยีเซนเซอร์:</a:t>
            </a:r>
            <a:br/>
            <a:r>
              <a:t>  Industrial Glass Electrode Probe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#2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สารละลายรวม (TDS)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 – 2,000 ppm</a:t>
            </a:r>
            <a:br/>
            <a:br/>
            <a:r>
              <a:t>• ความแม่นยำ (Accuracy):</a:t>
            </a:r>
            <a:br/>
            <a:r>
              <a:t>  ±1.5% F.S.</a:t>
            </a:r>
            <a:br/>
            <a:br/>
            <a:r>
              <a:t>• เทคโนโลยีเซนเซอร์:</a:t>
            </a:r>
            <a:br/>
            <a:r>
              <a:t>  Titanium Dual-Pole Sensor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#3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อุณหภูมิน้ำ (Water Temp)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-10.0 – 80.0 °C</a:t>
            </a:r>
            <a:br/>
            <a:br/>
            <a:r>
              <a:t>• ความแม่นยำ (Accuracy):</a:t>
            </a:r>
            <a:br/>
            <a:r>
              <a:t>  ±0.2 °C</a:t>
            </a:r>
            <a:br/>
            <a:br/>
            <a:r>
              <a:t>• เทคโนโลยีเซนเซอร์:</a:t>
            </a:r>
            <a:br/>
            <a:r>
              <a:t>  PT1000 RTD พร้อมระบบ ATC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#4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คลอรีนคงเหลือ (Residual Cl)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5.00 mg/L</a:t>
            </a:r>
            <a:br/>
            <a:br/>
            <a:r>
              <a:t>• ความแม่นยำ (Accuracy):</a:t>
            </a:r>
            <a:br/>
            <a:r>
              <a:t>  ±0.02 mg/L</a:t>
            </a:r>
            <a:br/>
            <a:br/>
            <a:r>
              <a:t>• เทคโนโลยีเซนเซอร์:</a:t>
            </a:r>
            <a:br/>
            <a:r>
              <a:t>  Amperometric Membrane Sensor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2. ภาพแคปหน้าจอระบบ Centralized Web Dashboard จริง (ผูกสิทธิ์ 100 จุด)</a:t>
            </a:r>
          </a:p>
        </p:txBody>
      </p:sp>
      <p:pic>
        <p:nvPicPr>
          <p:cNvPr id="3" name="Picture 2" descr="scad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1463040"/>
            <a:ext cx="432785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1600200"/>
            <a:ext cx="3962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0284C7"/>
                </a:solidFill>
              </a:defRPr>
            </a:pPr>
            <a:r>
              <a:t>💻 ฟังก์ชันหน้าจอ Web Dashboard (ความจุ 100 จุด):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❶ สถานะระบบ &amp; ไฟเลี้ยง 24V: แสดงสถานะ Healthy, สัญญาณ 4G/WiFi และระบบไฟ Switching 24V ปกติ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❷ การ์ดตรวจวัด 4 ค่าหลัก: อุณหภูมิน้ำ (ATC), pH (Glass Probe), TDS (ppm), Cl (mg/L)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❸ กราฟแนวโน้ม Real-Time: พล็อตข้อมูลสด 1 วินาที ติดตามค่าน้ำ 24 ชม. พร้อมซูมดูย้อนหลัง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❹ ผูกสิทธิ์รองรับสูงสุด 100 จุด: ระบบจัดการโหนดกลางรองรับได้ถึง 100 สถานีในแพ็กเกจเดียว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❺ Digital Calibration: สอบเทียบหัววัด pH 7.00 / 4.01 ผ่านหน้าเว็บในคลิกเดียว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❻ ส่งออกรายงาน: Export ข้อมูลเป็น Excel / PDF สำหรับรายงาน ISO ทันที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3. ภาพแคปหน้าจอแอปมือถือจริงครบทุกแท็บเมนู (Modela Mobile Multi-Screen)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b_screen_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2194560" cy="37490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1. หน้าแดชบอร์ดหลัก (Home)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Hero pH, Cl, Temp, TDS, Power 24V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ob_screen_2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600200"/>
            <a:ext cx="2194560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661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2. กราฟย้อนหลัง (History)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กราฟแนวโน้มสด &amp; ตารางสถิติ Avg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ob_screen_3_dev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600200"/>
            <a:ext cx="2194560" cy="37490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3. รวมสถานีทั้งหมด (Devices)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สลับดูสถานี #01 ถึง #100 Online/Alert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ob_screen_4_cali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600200"/>
            <a:ext cx="2194560" cy="37490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25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4. สอบเทียบหัววัด (Calib)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pH 7.00, pH 4.01, TDS &amp; Cl Zero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4. ตัวอย่างข้อความแจ้งเตือนเมื่อพบค่าผิดปกติ (Telegram vs LINE OA)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</a:defRPr>
            </a:pPr>
            <a:r>
              <a:t>✈️ รูปแบบ Telegram Alert (ส่งฟรี &amp; ไวมาก)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แจ้งเตือนคุณภาพน้ำผิดปกติ</a:t>
            </a:r>
            <a:br/>
            <a:r>
              <a:t>📍 จุดติดตั้ง: บ่อพักน้ำ #04 (ตู้ 1004)</a:t>
            </a:r>
            <a:br/>
            <a:r>
              <a:t>⏰ เวลา: 14:15 น.</a:t>
            </a:r>
            <a:br/>
            <a:r>
              <a:t>━━━━━━━━━━━━━━━━━━━━</a:t>
            </a:r>
            <a:br/>
            <a:r>
              <a:t>• คลอรีน: 0.15 mg/L ❌ (เกณฑ์ 0.20-2.00)</a:t>
            </a:r>
            <a:br/>
            <a:r>
              <a:t>• pH: 6.4 ❌ (เกณฑ์ 6.5-8.5)</a:t>
            </a:r>
            <a:br/>
            <a:r>
              <a:t>• TDS: 185 ppm (ปกติ)</a:t>
            </a:r>
            <a:br/>
            <a:r>
              <a:t>• อุณหภูมิ: 28.5 °C (ปกติ)</a:t>
            </a:r>
            <a:br/>
            <a:r>
              <a:t>━━━━━━━━━━━━━━━━━━━━</a:t>
            </a:r>
            <a:br/>
            <a:r>
              <a:t>🔗 ดูกราฟย้อนหลัง: https://water-iot.com/node/1004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✔ จุดเด่น: ส่งฟรี 100% ไม่มีค่า Broadcast รายเดือน ประหยัดงบประมาณสูงสุด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59669"/>
                </a:solidFill>
              </a:defRPr>
            </a:pPr>
            <a:r>
              <a:t>💬 รูปแบบ LINE OA Alert (การ์ดสถานะในกลุ่มไลน์)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[CRITICAL] คุณภาพน้ำหลุดเกณฑ์</a:t>
            </a:r>
            <a:br/>
            <a:r>
              <a:t>📍 สถานี: บ่อจ่ายน้ำเขตเหนือ</a:t>
            </a:r>
            <a:br/>
            <a:r>
              <a:t>━━━━━━━━━━━━━━━━━━━━</a:t>
            </a:r>
            <a:br/>
            <a:r>
              <a:t>• คลอรีน: 0.12 mg/L ⚠️ (ต่ำกว่าเกณฑ์)</a:t>
            </a:r>
            <a:br/>
            <a:r>
              <a:t>• ค่า pH: 6.30 ⚠️ (ต่ำกว่าเกณฑ์)</a:t>
            </a:r>
            <a:br/>
            <a:r>
              <a:t>• ค่า TDS: 190 ppm (ปกติ)</a:t>
            </a:r>
            <a:br/>
            <a:r>
              <a:t>• อุณหภูมิ: 29.0 °C (ปกติ)</a:t>
            </a:r>
            <a:br/>
            <a:r>
              <a:t>━━━━━━━━━━━━━━━━━━━━</a:t>
            </a:r>
            <a:br/>
            <a:r>
              <a:t>👉 [เปิด Dashboard ดูข้อมูลสด]</a:t>
            </a:r>
          </a:p>
          <a:p>
            <a:pPr>
              <a:defRPr sz="950" b="1">
                <a:solidFill>
                  <a:srgbClr val="0284C7"/>
                </a:solidFill>
              </a:defRPr>
            </a:pPr>
            <a:r>
              <a:t>✔ จุดเด่น: แจ้งเตือนเป็นการ์ดสถานะในกลุ่ม LINE สะดวกสำหรับผู้บริหาร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5. รายการอุปกรณ์ฮาร์ดแวร์ตู้คอนโทรลมาตรฐานต่อชุด (Hardware Specs)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ชุดเซนเซอร์หลัก (Modela One + 4 ค่า)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Modbus RTU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บอร์ดควบคุมหลัก Modela One (RS-485)</a:t>
            </a:r>
            <a:br/>
            <a:r>
              <a:t>• หัววัด pH แก้วอุตสาหกรรม (±0.01 pH)</a:t>
            </a:r>
            <a:br/>
            <a:r>
              <a:t>• หัววัด TDS Titanium Dual-Pole</a:t>
            </a:r>
            <a:br/>
            <a:r>
              <a:t>• หัววัดอุณหภูมิ PT1000 RTD (ATC)</a:t>
            </a:r>
            <a:br/>
            <a:r>
              <a:t>• เซนเซอร์คลอรีนคงเหลือ Cybertice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4G LTE Router (TP-Link TL-MR100)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300 Mbps Wi-Fi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เราเตอร์ 4G LTE Wi-Fi ความเร็ว 300 Mbps</a:t>
            </a:r>
            <a:br/>
            <a:r>
              <a:t>• เสารับสัญญาณภายนอก 2 เสา สัญญาณนิ่งเสถียร</a:t>
            </a:r>
            <a:br/>
            <a:r>
              <a:t>• (สำหรับรุ่น 4.1 เท่านั้น)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ซิมการ์ด 4G IoT (Unlimited)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ฟรีเฉพาะปีแรก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ซิมเน็ต IoT รายปี ไม่อั้น ไม่ลดสปีด</a:t>
            </a:r>
            <a:br/>
            <a:r>
              <a:t>• รวมค่าบริการเครือข่าย 12 เดือนแรก</a:t>
            </a:r>
            <a:br/>
            <a:r>
              <a:t>• ปีที่ 2 ลูกค้ารับผิดชอบค่าเน็ตเอง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ตู้คอนโทรล IP65 + Switching 24V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IP65 Waterproof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ตู้กันน้ำกันฝุ่นมาตรฐาน IP65</a:t>
            </a:r>
            <a:br/>
            <a:r>
              <a:t>• แหล่งจ่ายไฟ Switching Power Supply 24V</a:t>
            </a:r>
            <a:br/>
            <a:r>
              <a:t>• Breaker ป้องกันไฟเกิน + Terminal + Wiring ครบ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93776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74920"/>
            <a:ext cx="10149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DD4BF"/>
                </a:solidFill>
              </a:defRPr>
            </a:pPr>
            <a:r>
              <a:t>➡️ ทางเลือกการสื่อสาร: รุ่น 4G LTE (มีเราเตอร์+ซิม) vs รุ่น Wi-Fi (ตัดเราเตอร์และซิมออก ประหยัด ฿4,000/ชุด)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อุปกรณ์ประกอบสำเร็จรูป ตรวจสอบระบบไฟฟ้า และทดสอบออนไลน์ 100% ก่อนส่งมอบหน้างาน | รุ่น Wi-Fi ต่อเน็ตโรงงานโดยตรง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6. ใบเสนอราคาทางการ (เปรียบเทียบรุ่น 4G LTE vs รุ่น Wi-Fi)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10058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4.1 รุ่น 4G LTE Plug &amp; Play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฿36,000 บาท / ชุด  (สั่งซื้อเดี่ยว: ฿39,500 บาท/ชุด)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ตู้ IP65 + Switching 24V + Modela One + 4 เซนเซอร์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เราเตอร์ 4G LTE อุตสาหกรรม (TP-Link TL-MR100)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ซิมเน็ต IoT 4G Unlimited Data (ฟรีเฉพาะปีแรก)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รวมระบบ Web Dashboard &amp; App รองรับ 100 จุด (Admin 5 / ฟรี 100 Users แรก ฟรี 1 ปี)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แจ้งเตือนอัตโนมัติ 24 ชม. ผ่าน Telegram (ฟรี) &amp; LINE OA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จัดส่งสำเร็จรูปพร้อมคู่มือ (ลูกค้าติดตั้งเอง) ประกัน 1 ปี</a:t>
            </a:r>
          </a:p>
          <a:p>
            <a:pPr>
              <a:spcAft>
                <a:spcPts val="200"/>
              </a:spcAft>
              <a:defRPr sz="850" b="1">
                <a:solidFill>
                  <a:srgbClr val="0284C7"/>
                </a:solidFill>
              </a:defRPr>
            </a:pPr>
            <a:r>
              <a:t>✔ ★ ปีที่ 2: ค่าบริการ Cloud MA เดือนละ 300 บ./จุด (3,600 บ./จุด/ปี หรือ 360k/ปี สำหรับ 100 จุด) • เน็ตฟรีแค่ปีแรก ปีถัดไปลูกค้าดูแลค่าซิมเอง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120640" cy="10058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4.2 รุ่น Wi-Fi (ตัดเราเตอร์และซิมออก)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฿32,000 บาท / ชุด  (สั่งซื้อเดี่ยว: ฿35,500 บาท/ชุด)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ตู้ IP65 + Switching 24V + Modela One + 4 เซนเซอร์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ตัดเราเตอร์ 4G LTE และซิมการ์ดออก (ประหยัดทันที ฿4,000)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เชื่อมต่อสัญญาณ Wi-Fi 2.4 GHz หน้างานโดยตรง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รวมระบบ Web Dashboard &amp; App รองรับ 100 จุด (Admin 5 / ฟรี 100 Users แรก ฟรี 1 ปี)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แจ้งเตือนอัตโนมัติ 24 ชม. ผ่าน Telegram (ฟรี) &amp; LINE OA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จัดส่งสำเร็จรูปพร้อมคู่มือ (ลูกค้าติดตั้งเอง) ประกัน 1 ปี</a:t>
            </a:r>
          </a:p>
          <a:p>
            <a:pPr>
              <a:spcAft>
                <a:spcPts val="200"/>
              </a:spcAft>
              <a:defRPr sz="850" b="1">
                <a:solidFill>
                  <a:srgbClr val="059669"/>
                </a:solidFill>
              </a:defRPr>
            </a:pPr>
            <a:r>
              <a:t>✔ ★ ปีที่ 2: ค่าบริการ Cloud MA เดือนละ 300 บ./จุด (3,600 บ./จุด/ปี หรือ 360k/ปี สำหรับ 100 จุด) • ไม่มีภาระค่าบริการซิม 4G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💧 สรุปภาพรวมข้อเสนอราคาทางการ</a:t>
            </a:r>
          </a:p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600"/>
              </a:spcAft>
              <a:defRPr sz="1350">
                <a:solidFill>
                  <a:srgbClr val="CBD5E1"/>
                </a:solidFill>
              </a:defRPr>
            </a:pPr>
            <a:r>
              <a:t>NCT PROSPERA TECH SOLUTIONS CO., LTD.</a:t>
            </a:r>
          </a:p>
          <a:p>
            <a:pPr>
              <a:spcAft>
                <a:spcPts val="2400"/>
              </a:spcAft>
              <a:defRPr sz="1080">
                <a:solidFill>
                  <a:srgbClr val="E2E8F0"/>
                </a:solidFill>
              </a:defRPr>
            </a:pPr>
            <a:r>
              <a:t>• 4.1 รุ่น 4G LTE Plug &amp; Play: ฿36,000 บาท/ชุด (สั่งเดี่ยว ฿39,500) มีเราเตอร์ + ซิม Unlimited ฟรีปีแรก</a:t>
            </a:r>
            <a:br/>
            <a:r>
              <a:t>• 4.2 รุ่น Wi-Fi Direct: ฿32,000 บาท/ชุด (สั่งเดี่ยว ฿35,500) ตัดเราเตอร์และซิมออก ประหยัดทันที ฿4,000/ชุด</a:t>
            </a:r>
            <a:br/>
            <a:r>
              <a:t>• สิทธิ์การใช้งานระบบ: รองรับ Admin 5 บัญชี และ Viewers 100 บัญชี</a:t>
            </a:r>
            <a:br/>
            <a:r>
              <a:t>• ปีที่ 2 เป็นต้นไป: ค่าบริการ Cloud Server License &amp; Software MA เดือนละ 300 บาท/จุด (เน็ตฟรีแค่ปีแรก)</a:t>
            </a:r>
            <a:br/>
            <a:r>
              <a:t>• เงื่อนไขขยายเกิน 100 จุด: คิดค่าบริหารจัดการระบบและขยาย Server โหนดเพิ่มเติมตามขนาดโครงการ</a:t>
            </a:r>
            <a:br/>
            <a:r>
              <a:t>• บริการเสริมติดตั้ง &amp; สอบเทียบหน้างาน (Add-on): +฿8,000 บาท/จุด</a:t>
            </a:r>
          </a:p>
          <a:p>
            <a:pPr>
              <a:defRPr sz="1200" b="1">
                <a:solidFill>
                  <a:srgbClr val="2DD4BF"/>
                </a:solidFill>
              </a:defRPr>
            </a:pPr>
            <a:r>
              <a:t>📞 สนใจสอบถามข้อมูลเพิ่มเติมและขอใบเสนอราคา (Request for Quotation):</a:t>
            </a:r>
            <a:br/>
            <a:r>
              <a:t>• Email: sales@nct-water.com  |  Tel: 02-XXX-XXXX, 08X-XXX-XXXX  |  Line: @nctwater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