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ชุดอุปกรณ์ตรวจวัดคุณภาพน้ำอัจฉริยะสำเร็จรูป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600">
                <a:solidFill>
                  <a:srgbClr val="CBD5E1"/>
                </a:solidFill>
              </a:defRPr>
            </a:pPr>
            <a:r>
              <a:t>รายงานนำเสนอโซลูชันระบบตรวจวัดคุณภาพน้ำ แดชบอร์ดควบคุม และใบเสนอราคามาตรฐานต่อชุด</a:t>
            </a:r>
          </a:p>
          <a:p>
            <a:pPr>
              <a:spcAft>
                <a:spcPts val="2800"/>
              </a:spcAft>
              <a:defRPr sz="1150">
                <a:solidFill>
                  <a:srgbClr val="94A3B8"/>
                </a:solidFill>
              </a:defRPr>
            </a:pPr>
            <a:r>
              <a:t>• 4 พารามิเตอร์คุณภาพน้ำ: pH / TDS / อุณหภูมิน้ำ (ATC) / คลอรีนคงเหลือ (Residual Cl)</a:t>
            </a:r>
            <a:br/>
            <a:r>
              <a:t>• ระบบแดชบอร์ดคู่ขนาน: Centralized Web Dashboard + Modela Mobile App (5 หน้าเมนู)</a:t>
            </a:r>
            <a:br/>
            <a:r>
              <a:t>• ราคาเสนอขายต่อชุด: ฿36,000 / ชุด (ผูกสิทธิ์ Web Dashboard รองรับสูงสุด 100 จุด • สั่งปลีก ฿45,000 / ชุด)</a:t>
            </a:r>
            <a:br/>
            <a:r>
              <a:t>• กรณีขยายระบบเกิน 100 จุด: มีค่าบริหารจัดการระบบและขยาย Server โหนดเพิ่มเติมตามขนาดโครงการ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ข้อมูลผลิตภัณฑ์และข้อกำหนดทางเทคนิค 4 พารามิเตอร์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#1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ความเป็นกรด-ด่าง (pH)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14.00 pH</a:t>
            </a:r>
            <a:br/>
            <a:br/>
            <a:r>
              <a:t>• ความแม่นยำ (Accuracy):</a:t>
            </a:r>
            <a:br/>
            <a:r>
              <a:t>  ±0.01 pH</a:t>
            </a:r>
            <a:br/>
            <a:br/>
            <a:r>
              <a:t>• เทคโนโลยีเซนเซอร์:</a:t>
            </a:r>
            <a:br/>
            <a:r>
              <a:t>  Industrial Glass Electrode Probe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#2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สารละลายรวม (TDS)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 – 2,000 ppm</a:t>
            </a:r>
            <a:br/>
            <a:br/>
            <a:r>
              <a:t>• ความแม่นยำ (Accuracy):</a:t>
            </a:r>
            <a:br/>
            <a:r>
              <a:t>  ±1.5% F.S.</a:t>
            </a:r>
            <a:br/>
            <a:br/>
            <a:r>
              <a:t>• เทคโนโลยีเซนเซอร์:</a:t>
            </a:r>
            <a:br/>
            <a:r>
              <a:t>  Titanium Dual-Pole Sensor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#3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อุณหภูมิน้ำ (Water Temp)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-10.0 – 80.0 °C</a:t>
            </a:r>
            <a:br/>
            <a:br/>
            <a:r>
              <a:t>• ความแม่นยำ (Accuracy):</a:t>
            </a:r>
            <a:br/>
            <a:r>
              <a:t>  ±0.2 °C</a:t>
            </a:r>
            <a:br/>
            <a:br/>
            <a:r>
              <a:t>• เทคโนโลยีเซนเซอร์:</a:t>
            </a:r>
            <a:br/>
            <a:r>
              <a:t>  PT1000 RTD พร้อมระบบ ATC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54480"/>
            <a:ext cx="22494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พารามิเตอร์ #4</a:t>
            </a:r>
          </a:p>
          <a:p>
            <a:pPr>
              <a:defRPr sz="1200" b="1">
                <a:solidFill>
                  <a:srgbClr val="FFFFFF"/>
                </a:solidFill>
              </a:defRPr>
            </a:pPr>
            <a:r>
              <a:t>คลอรีนคงเหลือ (Residual Cl)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• ช่วงการวัด (Range):</a:t>
            </a:r>
            <a:br/>
            <a:r>
              <a:t>  0.00 – 5.00 mg/L</a:t>
            </a:r>
            <a:br/>
            <a:br/>
            <a:r>
              <a:t>• ความแม่นยำ (Accuracy):</a:t>
            </a:r>
            <a:br/>
            <a:r>
              <a:t>  ±0.02 mg/L</a:t>
            </a:r>
            <a:br/>
            <a:br/>
            <a:r>
              <a:t>• เทคโนโลยีเซนเซอร์:</a:t>
            </a:r>
            <a:br/>
            <a:r>
              <a:t>  Amperometric Membrane Sensor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ภาพแคปหน้าจอระบบ Centralized Web Dashboard จริง (ผูกสิทธิ์ 100 จุด)</a:t>
            </a:r>
          </a:p>
        </p:txBody>
      </p:sp>
      <p:pic>
        <p:nvPicPr>
          <p:cNvPr id="3" name="Picture 2" descr="sca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284C7"/>
                </a:solidFill>
              </a:defRPr>
            </a:pPr>
            <a:r>
              <a:t>💻 ฟังก์ชันหน้าจอ Web Dashboard (ความจุ 100 จุด):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❶ สถานะระบบ &amp; ไฟเลี้ยง 24V: แสดงสถานะ Healthy, สัญญาณ 4G/WiFi และระบบไฟ Switching 24V ปกติ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พร้อมซูมดูย้อนหลัง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❹ ผูกสิทธิ์รองรับสูงสุด 100 จุด: ระบบจัดการโหนดกลางรองรับได้ถึง 100 สถานีในแพ็กเกจเดียว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19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ภาพแคปหน้าจอแอปมือถือจริงครบทุกแท็บเมนู (Modela Mobile Multi-Screen)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b_screen_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00200"/>
            <a:ext cx="2194560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1. หน้าแดชบอร์ดหลัก (Home)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Hero pH, Cl, Temp, TDS, Power 24V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b_screen_2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600200"/>
            <a:ext cx="2194560" cy="37490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5661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2. กราฟย้อนหลัง (History)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กราฟแนวโน้มสด &amp; ตารางสถิติ Avg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ob_screen_3_devi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600200"/>
            <a:ext cx="2194560" cy="37490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3. รวมสถานีทั้งหมด (Devices)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สลับดูสถานี #01 ถึง #100 Online/Alert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63040"/>
            <a:ext cx="24688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ob_screen_4_cali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600200"/>
            <a:ext cx="2194560" cy="374903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52560" y="544068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1">
                <a:solidFill>
                  <a:srgbClr val="0F172A"/>
                </a:solidFill>
              </a:defRPr>
            </a:pPr>
            <a:r>
              <a:t>4. สอบเทียบหัววัด (Calib)</a:t>
            </a:r>
          </a:p>
          <a:p>
            <a:pPr algn="ctr">
              <a:defRPr sz="780">
                <a:solidFill>
                  <a:srgbClr val="64748B"/>
                </a:solidFill>
              </a:defRPr>
            </a:pPr>
            <a:r>
              <a:t>pH 7.00, pH 4.01, TDS &amp; Cl Zero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ประหยัดงบประมาณสูงสุด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(การ์ดสถานะในกลุ่มไลน์)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แจ้งเตือนเป็นการ์ดสถานะในกลุ่ม LINE สะดวกสำหรับผู้บริหาร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รายการอุปกรณ์ฮาร์ดแวร์ตู้คอนโทรลมาตรฐานต่อชุด (Hardware Specs)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+ 4 ค่า)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Modbus RTU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Titanium Dual-Pole</a:t>
            </a:r>
            <a:br/>
            <a:r>
              <a:t>• หัววัดอุณหภูมิ PT1000 RTD (ATC)</a:t>
            </a:r>
            <a:br/>
            <a:r>
              <a:t>• เซนเซอร์คลอรีนคงเหลือ Cybertice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300 Mbps Wi-Fi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เชื่อมต่อระบบ Telemetry สดทุก 1 วินาที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รายปี (Unlimited)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15-20 Mbps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</a:t>
            </a:r>
            <a:br/>
            <a:r>
              <a:t>• รวมค่าบริการเครือข่าย 12 เดือนเต็ม</a:t>
            </a:r>
            <a:br/>
            <a:r>
              <a:t>• ส่งข้อมูลขึ้นระบบคลาวด์ตลอด 24 ชม.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IP65 Waterproof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Wiring 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DD4BF"/>
                </a:solidFill>
              </a:defRPr>
            </a:pPr>
            <a:r>
              <a:t>➡️ มาตรฐานชุดอุปกรณ์: สำเร็จรูปพร้อมติดตั้ง สื่อสาร 4G LTE และ Cloud Dashboard ครบวงจร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ชุดอุปกรณ์ประกอบสำเร็จรูป ตรวจสอบระบบไฟฟ้า และทดสอบสัญญาณเชื่อมต่อออนไลน์ 100% ก่อนส่งมอบหน้างาน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ชุดอุปกรณ์ตรวจวัดคุณภาพน้ำสำเร็จรูป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ใบเสนอราคาทางการ (ราคาต่อชุด + สิทธิ์ Web 100 จุด + เงื่อนไขเกิน 100 จุด)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69494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69494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6400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ชุดอุปกรณ์ตรวจวัดคุณภาพน้ำสำเร็จรูปพร้อมระบบออนไลน์ (ราคาต่อชุด)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NCT Water Nexus Pro - Plug &amp; Play (ผูกสิทธิ์ Web Dashboard รองรับสูงสุด 100 จุด)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640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050">
                <a:solidFill>
                  <a:srgbClr val="0F172A"/>
                </a:solidFill>
              </a:defRPr>
            </a:pPr>
            <a:r>
              <a:t>📋 ขอบเขตงานและรายการส่งมอบครบวงจรใน 1 ชุด: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ประกอบตู้คอนโทรลสำเร็จรูป IP65 พร้อม Switching 24V &amp; Surge Protection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ชุดเซนเซอร์ 4 ค่า (Modela One + pH แก้ว + TDS Titanium + PT1000 + คลอรีน Cybertice)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เราเตอร์ 4G LTE (TP-Link TL-MR100) พร้อมซิมการ์ด IoT Unlimited Data 12 เดือนเต็ม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รวมระบบ Centralized Web Dashboard + Cloud Server รองรับสูงสุด 100 จุด ฟรี 1 ปีแรก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Modela Mobile Companion App 5 หน้าเมนู (Home/History/Devices/Calib/Settings)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ระบบแจ้งเตือน Real-time อัตโนมัติ 24 ชม. ผ่าน Telegram (ฟรีตลอดชีพ) และ LINE OA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จัดส่งอุปกรณ์สำเร็จรูปถึงหน้างาน พร้อมคู่มือและแบบแปลนการต่อท่อบายพาส (ลูกค้าติดตั้งเอง)</a:t>
            </a:r>
          </a:p>
          <a:p>
            <a:pPr>
              <a:spcAft>
                <a:spcPts val="100"/>
              </a:spcAft>
              <a:defRPr sz="880">
                <a:solidFill>
                  <a:srgbClr val="64748B"/>
                </a:solidFill>
              </a:defRPr>
            </a:pPr>
            <a:r>
              <a:t>✔ รับประกันอุปกรณ์ฮาร์ดแวร์และเซนเซอร์ตลอด 1 ปีเต็ม</a:t>
            </a:r>
          </a:p>
          <a:p>
            <a:pPr>
              <a:spcBef>
                <a:spcPts val="600"/>
              </a:spcBef>
              <a:defRPr b="1" sz="1150">
                <a:solidFill>
                  <a:srgbClr val="0284C7"/>
                </a:solidFill>
              </a:defRPr>
            </a:pPr>
            <a:r>
              <a:t>💰 ราคาเสนอขายต่อชุด: ฿36,000 บาท / ชุด  (สั่งซื้อชุดเดี่ยวปลีก: ฿45,000 บาท/ชุด)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463040"/>
            <a:ext cx="35048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1391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97706"/>
                </a:solidFill>
              </a:defRPr>
            </a:pPr>
            <a:r>
              <a:t>⚠️ เงื่อนไขกรณีขยายเกิน 100 จุด:</a:t>
            </a:r>
          </a:p>
          <a:p>
            <a:pPr>
              <a:spcAft>
                <a:spcPts val="1000"/>
              </a:spcAft>
              <a:defRPr sz="850">
                <a:solidFill>
                  <a:srgbClr val="0F172A"/>
                </a:solidFill>
              </a:defRPr>
            </a:pPr>
            <a:r>
              <a:t>• ระบบ Web &amp; Cloud ในราคานี้ผูกสิทธิ์รองรับสูงสุด 100 จุด</a:t>
            </a:r>
            <a:br/>
            <a:r>
              <a:t>• กรณีสั่งซื้อหรือขยายระบบ เกินกว่า 100 จุดขึ้นไป จะมีค่าบริหารจัดการระบบและขยาย Server โหนดเพิ่มเติมตามขนาดโครงการ</a:t>
            </a:r>
          </a:p>
          <a:p>
            <a:pPr>
              <a:spcAft>
                <a:spcPts val="1000"/>
              </a:spcAft>
              <a:defRPr sz="850">
                <a:solidFill>
                  <a:srgbClr val="64748B"/>
                </a:solidFill>
              </a:defRPr>
            </a:pPr>
            <a:r>
              <a:t>★ บริการเสริมติดตั้งหน้างาน (Add-on):</a:t>
            </a:r>
            <a:br/>
            <a:r>
              <a:t>+฿8,000 / จุด (ทีมวิศวกรเข้าติดตั้งและสอบเทียบ)</a:t>
            </a:r>
          </a:p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🔄 การต่อสัญญาปีถัดไป (Year 2+):</a:t>
            </a:r>
          </a:p>
          <a:p>
            <a:pPr>
              <a:spcAft>
                <a:spcPts val="200"/>
              </a:spcAft>
              <a:defRPr sz="819">
                <a:solidFill>
                  <a:srgbClr val="64748B"/>
                </a:solidFill>
              </a:defRPr>
            </a:pPr>
            <a:r>
              <a:t>• ปีที่ 1: ฟรี Cloud &amp; Dashboard ตลอด 12 เดือน (สูงสุด 100 จุด)</a:t>
            </a:r>
          </a:p>
          <a:p>
            <a:pPr>
              <a:spcAft>
                <a:spcPts val="200"/>
              </a:spcAft>
              <a:defRPr sz="819">
                <a:solidFill>
                  <a:srgbClr val="64748B"/>
                </a:solidFill>
              </a:defRPr>
            </a:pPr>
            <a:r>
              <a:t>• ปีที่ 2 เป็นต้นไป: ค่าบริการ Cloud Server License &amp; Software MA ปีละ 120,000 บาท/ปี (1.2k/จุด/ปี)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สรุปภาพรวมข้อเสนอราคาทางการ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ชุดอุปกรณ์ตรวจวัดคุณภาพน้ำสำเร็จรูปพร้อมระบบออนไลน์ (ราคาต่อชุด):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ราคาเสนอขายต่อชุด: ฿36,000 บาท / ชุด (ผูกสิทธิ์ Web Dashboard รองรับสูงสุด 100 จุด)</a:t>
            </a:r>
            <a:br/>
            <a:r>
              <a:t>• สั่งซื้อชุดเดี่ยวปลีก (Standalone): ฿45,000 บาท / ชุด</a:t>
            </a:r>
            <a:br/>
            <a:r>
              <a:t>• กรณีขยายระบบเกิน 100 จุดขึ้นไป: คิดค่าบริหารจัดการระบบและขยาย Server โหนดเพิ่มเติมตามขนาดโครงการ</a:t>
            </a:r>
            <a:br/>
            <a:r>
              <a:t>• บริการเสริมติดตั้ง &amp; สอบเทียบหน้างาน (Optional Add-on): +฿8,000 บาท/จุด</a:t>
            </a:r>
            <a:br/>
            <a:r>
              <a:t>• ปีที่ 2 เป็นต้นไป: ค่าบริการ Cloud Server &amp; Software MA เพียง 120,000 บาท/ปี (1,200 บ./จุด/ปี)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