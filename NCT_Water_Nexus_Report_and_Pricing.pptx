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ONLINE SMART WATER MONITORING &amp; TELEMETRY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800">
                <a:solidFill>
                  <a:srgbClr val="CBD5E1"/>
                </a:solidFill>
              </a:defRPr>
            </a:pPr>
            <a:r>
              <a:t>Smart Water Quality Intelligence &amp; Real-Time Telemetry Platform</a:t>
            </a:r>
          </a:p>
          <a:p>
            <a:pPr>
              <a:spcAft>
                <a:spcPts val="3000"/>
              </a:spcAft>
              <a:defRPr sz="1250">
                <a:solidFill>
                  <a:srgbClr val="94A3B8"/>
                </a:solidFill>
              </a:defRPr>
            </a:pPr>
            <a:r>
              <a:t>ข้อเสนอราคาและโมเดลการลงทุน: 【 ซื้อขาด (One-Time) 】 vs 【 เช่าใช้รายปี (Annual Subscription) 】</a:t>
            </a:r>
            <a:br/>
            <a:r>
              <a:t>แยกตามจำนวนสั่งซื้อ: 【 น้อยกว่า 100 ชุด (&lt;100) 】 และ 【 มากกว่า 100 ชุดขึ้นไป (≥100 Bulk Discount) 】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Water Solutions  •  System Version 2.5 Pro  •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COMMERCIAL PROPOSAL</a:t>
            </a:r>
          </a:p>
          <a:p>
            <a:pPr>
              <a:defRPr sz="2300" b="1">
                <a:solidFill>
                  <a:srgbClr val="0F172A"/>
                </a:solidFill>
              </a:defRPr>
            </a:pPr>
            <a:r>
              <a:t>สรุปภาพรวมโครงสร้างราคา 2 รูปแบบ x 2 กลุ่มจำนวน (Pricing Structure)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📦 กลุ่มที่ 1: จำนวนน้อยกว่า 100 ชุด (&lt; 100 Sets)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1. แบบซื้อขาด (Outright Purchase):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• Standard (pH + Temp): ฿24,900 / ชุด</a:t>
            </a:r>
            <a:br/>
            <a:r>
              <a:t>• Pro 4-in-1 (pH + Temp + TDS + Cl): ฿49,000 / ชุด (ยอดนิยม)</a:t>
            </a:r>
            <a:br/>
            <a:r>
              <a:t>• Enterprise 5-in-1 (+ ORP): ฿79,000 / ชุด</a:t>
            </a:r>
            <a:br/>
            <a:r>
              <a:t>  (ฟรี Cloud Dashboard 1-2 ปีแรก, ประกัน 1-2 ปี)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2. แบบเช่าใช้รายปี (Annual Subscription):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• Standard Care: ฿12,000 / ชุด / ปี (~฿1,000/ด.)</a:t>
            </a:r>
            <a:br/>
            <a:r>
              <a:t>• Pro Care (4-in-1): ฿24,000 / ชุด / ปี (~฿2,000/ด.)</a:t>
            </a:r>
            <a:br/>
            <a:r>
              <a:t>• Enterprise Care: ฿39,000 / ชุด / ปี (~฿3,250/ด.)</a:t>
            </a:r>
            <a:br/>
            <a:r>
              <a:t>  (ฟรีเครื่อง + เซนเซอร์ + ซิม + Cloud + เปลี่ยนหัววัดฟรีตลอดสัญญา)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59669"/>
                </a:solidFill>
              </a:defRPr>
            </a:pPr>
            <a:r>
              <a:t>🏢 กลุ่มที่ 2: จำนวน 100 ชุดขึ้นไป (≥ 100 Sets Bulk Discount)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1. แบบซื้อขาดราคาส่ง (Bulk Outright - ส่วนลด ~30%):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Standard (pH + Temp): ฿16,900 / ชุด</a:t>
            </a:r>
            <a:br/>
            <a:r>
              <a:t>• Pro 4-in-1 (pH + Temp + TDS + Cl): ฿34,500 / ชุด (ประหยัด ฿1.45 ล้าน/100ชุด)</a:t>
            </a:r>
            <a:br/>
            <a:r>
              <a:t>• Enterprise 5-in-1 (+ ORP): ฿55,000 / ชุด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2. แบบเช่าใช้รายปีราคาส่ง (Bulk Annual - ส่วนลด ~30%):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Standard Care: ฿8,400 / ชุด / ปี (~฿700/ด.)</a:t>
            </a:r>
            <a:br/>
            <a:r>
              <a:t>• Pro Care (4-in-1): ฿16,800 / ชุด / ปี (~฿1,400/ด.)</a:t>
            </a:r>
            <a:br/>
            <a:r>
              <a:t>• Enterprise Care: ฿27,000 / ชุด / ปี (~฿2,250/ด.)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🌟 สิทธิพิเศษสำหรับยอดสั่งซื้อ 100+ ชุด: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ฟรี Private Cloud Server &amp; Custom Domain</a:t>
            </a:r>
            <a:br/>
            <a:r>
              <a:t>• ฟรีสกรีนโลโก้แบรนด์ลูกค้าบนเครื่อง &amp; Dashboard (White-label)</a:t>
            </a:r>
            <a:br/>
            <a:r>
              <a:t>• ฟรีเครื่องสำรอง Spare Units ประจำไซต์ 5% ทันที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COMMERCIAL PROPOSAL</a:t>
            </a:r>
          </a:p>
          <a:p>
            <a:pPr>
              <a:defRPr sz="2300" b="1">
                <a:solidFill>
                  <a:srgbClr val="0F172A"/>
                </a:solidFill>
              </a:defRPr>
            </a:pPr>
            <a:r>
              <a:t>ตารางเปรียบเทียบราคาขาย: ซื้อขาด vs รายปี (&lt;100 ชุด และ ≥100 ชุด)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72865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/>
                <a:gridCol w="2057400"/>
                <a:gridCol w="2057400"/>
                <a:gridCol w="2057400"/>
                <a:gridCol w="2057400"/>
              </a:tblGrid>
              <a:tr h="561702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ระดับแพ็กเกจ (Package Tier)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ซื้อขาด (&lt;100 ชุด)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ซื้อขาด (≥100 ชุด)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รายปี (&lt;100 ชุด)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รายปี (≥100 ชุด)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 Standard (pH + Temp PT1000)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284C7"/>
                          </a:solidFill>
                        </a:defRPr>
                      </a:pPr>
                      <a:r>
                        <a:t>฿24,900 / ชุด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284C7"/>
                          </a:solidFill>
                        </a:defRPr>
                      </a:pPr>
                      <a:r>
                        <a:t>฿16,900 / ชุด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</a:defRPr>
                      </a:pPr>
                      <a:r>
                        <a:t>฿12,000 / ปี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</a:defRPr>
                      </a:pPr>
                      <a:r>
                        <a:t>฿8,400 / ปี (~฿700/ด.)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2. Pro 4-in-1 (pH, Temp, TDS, Cl)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284C7"/>
                          </a:solidFill>
                        </a:defRPr>
                      </a:pPr>
                      <a:r>
                        <a:t>฿49,000 / ชุด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284C7"/>
                          </a:solidFill>
                        </a:defRPr>
                      </a:pPr>
                      <a:r>
                        <a:t>฿34,500 / ชุด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</a:defRPr>
                      </a:pPr>
                      <a:r>
                        <a:t>฿24,000 / ปี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</a:defRPr>
                      </a:pPr>
                      <a:r>
                        <a:t>฿16,800 / ปี (~฿1,400/ด.)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3. Enterprise 5-in-1 (+ ORP)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284C7"/>
                          </a:solidFill>
                        </a:defRPr>
                      </a:pPr>
                      <a:r>
                        <a:t>฿79,000 / ชุด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284C7"/>
                          </a:solidFill>
                        </a:defRPr>
                      </a:pPr>
                      <a:r>
                        <a:t>฿55,000 / ชุด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</a:defRPr>
                      </a:pPr>
                      <a:r>
                        <a:t>฿39,000 / ปี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</a:defRPr>
                      </a:pPr>
                      <a:r>
                        <a:t>฿27,000 / ปี (~฿2,250/ด.)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กรรมสิทธิ์อุปกรณ์ (Hardware)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284C7"/>
                          </a:solidFill>
                        </a:defRPr>
                      </a:pPr>
                      <a:r>
                        <a:t>เป็นของลูกค้า 100%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284C7"/>
                          </a:solidFill>
                        </a:defRPr>
                      </a:pPr>
                      <a:r>
                        <a:t>เป็นของลูกค้า 100%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</a:defRPr>
                      </a:pPr>
                      <a:r>
                        <a:t>ให้ยืมเครื่องฟรีตลอดสัญญา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</a:defRPr>
                      </a:pPr>
                      <a:r>
                        <a:t>ให้ยืมเครื่องฟรีตลอดสัญญา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การเปลี่ยนหัววัด/อะไหล่เสื่อม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284C7"/>
                          </a:solidFill>
                        </a:defRPr>
                      </a:pPr>
                      <a:r>
                        <a:t>ฟรีตามระยะประกัน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284C7"/>
                          </a:solidFill>
                        </a:defRPr>
                      </a:pPr>
                      <a:r>
                        <a:t>ฟรีตามระยะประกัน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</a:defRPr>
                      </a:pPr>
                      <a:r>
                        <a:t>ฟรี 100% ตลอดสัญญา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</a:defRPr>
                      </a:pPr>
                      <a:r>
                        <a:t>ฟรี 100% + อะไหล่สำรอง 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Cloud &amp; ซิม 4G Telemetry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284C7"/>
                          </a:solidFill>
                        </a:defRPr>
                      </a:pPr>
                      <a:r>
                        <a:t>ฟรี 1-2 ปีแรก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284C7"/>
                          </a:solidFill>
                        </a:defRPr>
                      </a:pPr>
                      <a:r>
                        <a:t>ฟรี 2 ปีแรก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</a:defRPr>
                      </a:pPr>
                      <a:r>
                        <a:t>รวมอยู่ในค่าบริการแล้ว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59669"/>
                          </a:solidFill>
                        </a:defRPr>
                      </a:pPr>
                      <a:r>
                        <a:t>รวมอยู่ในค่าบริการแล้ว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1520" y="5577840"/>
            <a:ext cx="10728655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6235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💡 สำหรับโครงการระดับ 100 ชุดขึ้นไป: มีระบบ White-Label ติดแบรนด์ของลูกค้า, Private Server และจัดทีมอบรมช่างเทคนิคประจำไซต์งานฟรี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COMMERCIAL PROPOSAL</a:t>
            </a:r>
          </a:p>
          <a:p>
            <a:pPr>
              <a:defRPr sz="2300" b="1">
                <a:solidFill>
                  <a:srgbClr val="0F172A"/>
                </a:solidFill>
              </a:defRPr>
            </a:pPr>
            <a:r>
              <a:t>สเปกเซนเซอร์ตรวจวัดคุณภาพน้ำ (High-Precision Sensor Probes)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2194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SENSOR 01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อุณหภูมิน้ำ (Water Temp)</a:t>
            </a:r>
          </a:p>
          <a:p>
            <a:pPr>
              <a:spcAft>
                <a:spcPts val="600"/>
              </a:spcAft>
              <a:defRPr sz="1050" b="1">
                <a:solidFill>
                  <a:srgbClr val="D97706"/>
                </a:solidFill>
              </a:defRPr>
            </a:pPr>
            <a:r>
              <a:t>หัววัด: PT1000 Platinum RTD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ช่วงวัด: 0.0 - 50.0°C</a:t>
            </a:r>
            <a:br/>
            <a:r>
              <a:t>ความละเอียด: ±0.1°C</a:t>
            </a:r>
            <a:br/>
            <a:r>
              <a:t>ฟังก์ชัน: ระบบชดเชยอุณหภูมิอัตโนมัติ (ATC Compensation) เพื่อความเที่ยงตรงสูงสุดของค่า pH &amp; TDS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463040"/>
            <a:ext cx="24688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1600200"/>
            <a:ext cx="2194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SENSOR 02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ความเป็นกรด-ด่าง (pH)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</a:defRPr>
            </a:pPr>
            <a:r>
              <a:t>หัววัด: Industrial Glass Electrode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ช่วงวัด: 0.00 - 14.00 pH</a:t>
            </a:r>
            <a:br/>
            <a:r>
              <a:t>ความแม่นยำ: ±0.01 pH</a:t>
            </a:r>
            <a:br/>
            <a:r>
              <a:t>เกณฑ์มาตรฐาน: 6.50 - 8.50 pH</a:t>
            </a:r>
            <a:br/>
            <a:r>
              <a:t>รองรับการสอบเทียบดิจิทัล (Buffer 4.01, 7.00, 10.01)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24688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2194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SENSOR 03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สารละลายรวม (TDS / EC)</a:t>
            </a:r>
          </a:p>
          <a:p>
            <a:pPr>
              <a:spcAft>
                <a:spcPts val="600"/>
              </a:spcAft>
              <a:defRPr sz="1050" b="1">
                <a:solidFill>
                  <a:srgbClr val="059669"/>
                </a:solidFill>
              </a:defRPr>
            </a:pPr>
            <a:r>
              <a:t>หัววัด: Titanium Alloy 2-Pole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ช่วงวัด: 0 - 2,000 ppm (mg/L)</a:t>
            </a:r>
            <a:br/>
            <a:r>
              <a:t>ความแม่นยำ: ±2% F.S.</a:t>
            </a:r>
            <a:br/>
            <a:r>
              <a:t>เกณฑ์มาตรฐาน: &lt; 500 ppm</a:t>
            </a:r>
            <a:br/>
            <a:r>
              <a:t>ตรวจจับปริมาณสารแขวนลอยและแร่ธาตุในน้ำ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463040"/>
            <a:ext cx="24688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600200"/>
            <a:ext cx="2194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SENSOR 04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คลอรีนคงเหลือ (Residual Cl)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</a:defRPr>
            </a:pPr>
            <a:r>
              <a:t>หัววัด: Amperometric Probe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ช่วงวัด: 0.00 - 5.00 mg/L (ppm)</a:t>
            </a:r>
            <a:br/>
            <a:r>
              <a:t>ความแม่นยำ: ±0.05 mg/L</a:t>
            </a:r>
            <a:br/>
            <a:r>
              <a:t>เกณฑ์มาตรฐาน: 0.20 - 2.00 mg/L</a:t>
            </a:r>
            <a:br/>
            <a:r>
              <a:t>ตรวจเช็คประสิทธิภาพการฆ่าเชื้อโรค 100%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72865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800600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DD4BF"/>
                </a:solidFill>
              </a:defRPr>
            </a:pPr>
            <a:r>
              <a:t>🎛️ SMART INDUSTRIAL CONTROLLER NODE &amp; TELEMETRY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• Telemetry Multi-Link: ส่งสัญญาณผ่าน WiFi 2.4GHz, 4G LTE Cellular และ Modbus RS-485 สู่ระบบ Cloud SCADA ตลอด 24 ชม.</a:t>
            </a:r>
            <a:br/>
            <a:r>
              <a:t>• ระบบสำรองไฟอัจฉริยะ (LiFePO4 Battery Backup): ใช้งานต่อเนื่องแม้ยามไฟดับ พร้อมระบบตรวจสอบระดับแบตเตอรี่ Real-time</a:t>
            </a:r>
            <a:br/>
            <a:r>
              <a:t>• Alarm Output Relay: พอร์ต Dry Contact สำหรับต่อไซเรนเตือนภัยภายนอก หรือส่งสัญญาณต่อไปยังระบบ SCADA / PLC เดิมของโรงงาน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COMMERCIAL PROPOSAL</a:t>
            </a:r>
          </a:p>
          <a:p>
            <a:pPr>
              <a:defRPr sz="2300" b="1">
                <a:solidFill>
                  <a:srgbClr val="0F172A"/>
                </a:solidFill>
              </a:defRPr>
            </a:pPr>
            <a:r>
              <a:t>ระบบแดชบอร์ด SCADA และ Mobile Companion App (Software Platform)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💻 1. Desktop SCADA Widescreen Dashboard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Widescreen Plant Overview: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แดชบอร์ดขนาดใหญ่สำหรับห้องควบคุม (Control Room) แสดงสถานะและแนวโน้มชัดเจน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High-Frequency Telemetry Trends: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กราฟ Real-Time Dynamic Charts แบบ Multi-Axis วิเคราะห์ pH, Temp, TDS, Cl พร้อมกัน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Interactive Hardware Controls: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สวิตช์เปิด-ปิดไฟหน้าจอ ตรวจสอบสถานะการเชื่อมต่อ และทดสอบสัญญาณ Real-time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Automated Calibration Assistant: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ระบบช่วยเทียบมาตรฐานหัววัด pH (One-Click Digital Calibrate Buffer 7.00 / 4.01) ง่ายและแม่นยำ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📱 2. Mobile Companion App (iOS &amp; Android)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Native Phone Experience: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ดีไซน์เฉพาะสำหรับสมาร์ทโฟน เช็คค่าน้ำได้สะดวกรวดเร็วตลอด 24 ชม. ทุกที่ทุกเวลา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Color-Coded Metric Cards: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การ์ดแสดงค่าแยกสีชัดเจน (Teal=pH, Amber=Temp, Green=TDS, Blue=Chlorine) อ่านค่าง่ายทันที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Real-Time Connection Topology: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แสดงสถานะการเชื่อมต่อแบบภาพ (WiFi ➔ Display ➔ Probe) พร้อมแจ้งระดับแบตเตอรี่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Multi-Station Management: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สลับดูข้อมูลสถานีตรวจวัดน้ำได้หลายจุดพร้อมกันในแอปเดียว (All Devices Hub)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COMMERCIAL PROPOSAL</a:t>
            </a:r>
          </a:p>
          <a:p>
            <a:pPr>
              <a:defRPr sz="2300" b="1">
                <a:solidFill>
                  <a:srgbClr val="0F172A"/>
                </a:solidFill>
              </a:defRPr>
            </a:pPr>
            <a:r>
              <a:t>เกณฑ์มาตรฐานคุณภาพน้ำและการแจ้งเตือน (Water Quality Benchmarks)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72865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2286000"/>
                <a:gridCol w="2011680"/>
                <a:gridCol w="2773375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พารามิเตอร์ (Parameter)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หน่วยตรวจวัด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เกณฑ์มาตรฐานปลอดภัย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ค่าเฉลี่ยปกติของระบบ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เงื่อนไขการแจ้งเตือน (Alert Action)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ความเป็นกรด-ด่าง (pH)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pH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6.50 - 8.50 pH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59669"/>
                          </a:solidFill>
                        </a:defRPr>
                      </a:pPr>
                      <a:r>
                        <a:t>7.20 - 7.35 pH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284C7"/>
                          </a:solidFill>
                        </a:defRPr>
                      </a:pPr>
                      <a:r>
                        <a:t>เตือนทันทีเมื่อ pH &lt; 6.80 หรือ &gt; 8.20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อุณหภูมิน้ำ (Water Temp)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°Celsius / °F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15.0 - 30.0 °C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59669"/>
                          </a:solidFill>
                        </a:defRPr>
                      </a:pPr>
                      <a:r>
                        <a:t>17.0 - 22.0 °C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284C7"/>
                          </a:solidFill>
                        </a:defRPr>
                      </a:pPr>
                      <a:r>
                        <a:t>ส่งค่า ATC ปรับชดเชยการอ่านค่า pH/TDS สด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สารละลายรวม (TDS)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ppm (mg/L)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&lt; 500 ppm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59669"/>
                          </a:solidFill>
                        </a:defRPr>
                      </a:pPr>
                      <a:r>
                        <a:t>180 - 230 ppm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284C7"/>
                          </a:solidFill>
                        </a:defRPr>
                      </a:pPr>
                      <a:r>
                        <a:t>เตือนเมื่อ &gt; 450 ppm (แนะตรวจเช็คไส้กรอง)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คลอรีนคงเหลือ (Residual Cl)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mg/L (ppm)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0.20 - 2.00 mg/L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59669"/>
                          </a:solidFill>
                        </a:defRPr>
                      </a:pPr>
                      <a:r>
                        <a:t>0.80 - 1.00 mg/L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284C7"/>
                          </a:solidFill>
                        </a:defRPr>
                      </a:pPr>
                      <a:r>
                        <a:t>เตือนเมื่อ &lt; 0.20 mg/L (ความเสี่ยงเชื้อโรค)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ศักย์ไฟฟ้าออกซิเดชัน (ORP)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mV (Millivolts)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&gt; 650 mV (Sanitized)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59669"/>
                          </a:solidFill>
                        </a:defRPr>
                      </a:pPr>
                      <a:r>
                        <a:t>700 - 750 mV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284C7"/>
                          </a:solidFill>
                        </a:defRPr>
                      </a:pPr>
                      <a:r>
                        <a:t>ยืนยันความสามารถในการฆ่าเชื้อโรค 99.9%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1520" y="5303520"/>
            <a:ext cx="10728655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394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284C7"/>
                </a:solidFill>
              </a:defRPr>
            </a:pPr>
            <a:r>
              <a:t>🛡️ ความสอดคล้องตามมาตรฐานระดับสากลและในประเทศ: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ระบบ NCT WATER NEXUS ออกแบบตามข้อกำหนดมาตรฐานน้ำบริโภคของ กรมอนามัย กระทรวงสาธารณสุข, กรมโรงงานอุตสาหกรรม (DIW), องค์การอนามัยโลก (WHO Drinking Water Guidelines) และ US EPA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COMMERCIAL PROPOSAL</a:t>
            </a:r>
          </a:p>
          <a:p>
            <a:pPr>
              <a:defRPr sz="2300" b="1">
                <a:solidFill>
                  <a:srgbClr val="0F172A"/>
                </a:solidFill>
              </a:defRPr>
            </a:pPr>
            <a:r>
              <a:t>ความคุ้มค่าและผลตอบแทนการลงทุน (ROI &amp; Business Value)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37160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</a:defRPr>
            </a:pPr>
            <a:r>
              <a:t>LABOR HOURS SAVED</a:t>
            </a: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ลดเวลาแรงงาน 80%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194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ไม่ต้องจัดเจ้าหน้าที่เดินตักน้ำตรวจวันละหลายรอบ ลดภาระงานและให้พนักงานโฟกัสงานซ่อมบำรุงเชิงรุก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371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6002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</a:defRPr>
            </a:pPr>
            <a:r>
              <a:t>ZERO COMPLIANCE VIOLATION</a:t>
            </a: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ป้องกันน้ำหลุดเกณฑ์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017520"/>
            <a:ext cx="2194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ระบบตรวจจับและแจ้งเตือนทันทีภายใน 1 วินาที ป้องกันปัญหาสินค้าเสียหายและค่าปรับจากหน่วยงานรัฐ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37160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002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</a:defRPr>
            </a:pPr>
            <a:r>
              <a:t>PREDICTIVE MAINTENANCE</a:t>
            </a: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เพิ่มประสิทธิภาพโรงงาน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017520"/>
            <a:ext cx="2194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วิเคราะห์แนวโน้มล่วงหน้า รู้จังหวะล้างฟิลเตอร์และเปลี่ยนสารกรองก่อนที่ระบบจะตันหรือพัง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6002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</a:defRPr>
            </a:pPr>
            <a:r>
              <a:t>FAST PAYBACK PERIOD</a:t>
            </a: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คืนทุนภายใน 3 - 5 เดือน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3017520"/>
            <a:ext cx="2194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เมื่อเทียบกับค่าแรงงานที่ประหยัดได้ + การป้องกันความเสียหายของเครื่องจักรและผลิตภัณฑ์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ยกระดับระบบตรวจวัดและบริหารจัดการคุณภาพน้ำสู่อนาคต</a:t>
            </a:r>
          </a:p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2400"/>
              </a:spcAft>
              <a:defRPr sz="1400">
                <a:solidFill>
                  <a:srgbClr val="CBD5E1"/>
                </a:solidFill>
              </a:defRPr>
            </a:pPr>
            <a:r>
              <a:t>พร้อมให้คำปรึกษา ออกแบบระบบ และจัดทำใบเสนอราคาตามจำนวนชุดที่ท่านต้องการ</a:t>
            </a:r>
          </a:p>
          <a:p>
            <a:pPr>
              <a:defRPr b="1" sz="1300">
                <a:solidFill>
                  <a:srgbClr val="FFFFFF"/>
                </a:solidFill>
              </a:defRPr>
            </a:pPr>
            <a:r>
              <a:t>✨ สรุปทางเลือกการลงทุน:</a:t>
            </a:r>
          </a:p>
          <a:p>
            <a:pPr>
              <a:spcAft>
                <a:spcPts val="2800"/>
              </a:spcAft>
              <a:defRPr sz="1150">
                <a:solidFill>
                  <a:srgbClr val="E2E8F0"/>
                </a:solidFill>
              </a:defRPr>
            </a:pPr>
            <a:r>
              <a:t>• สั่งซื้อ &lt; 100 ชุด: ซื้อขาด ฿24,900 – ฿79,000  |  รายปี ฿12,000 – ฿39,000 / ปี</a:t>
            </a:r>
            <a:br/>
            <a:r>
              <a:t>• สั่งซื้อ ≥ 100 ชุด (Bulk): ซื้อขาด ฿16,900 – ฿55,000  |  รายปี ฿8,400 – ฿27,000 / ปี</a:t>
            </a:r>
            <a:br/>
            <a:r>
              <a:t>• ทดลองดูหน้าจอ Dashboard ออนไลน์สดได้ที่: https://woobwarb.github.io/nct-water-nexus/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